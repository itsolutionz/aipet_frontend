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Signika Bold" charset="1" panose="02010003020600000004"/>
      <p:regular r:id="rId16"/>
    </p:embeddedFont>
    <p:embeddedFont>
      <p:font typeface="Poppins Medium" charset="1" panose="00000600000000000000"/>
      <p:regular r:id="rId17"/>
    </p:embeddedFont>
    <p:embeddedFont>
      <p:font typeface="Poppins Semi-Bold" charset="1" panose="00000700000000000000"/>
      <p:regular r:id="rId18"/>
    </p:embeddedFont>
    <p:embeddedFont>
      <p:font typeface="Noto Sans Kr" charset="1" panose="020B0200000000000000"/>
      <p:regular r:id="rId19"/>
    </p:embeddedFont>
    <p:embeddedFont>
      <p:font typeface="Poppins Bold" charset="1" panose="00000800000000000000"/>
      <p:regular r:id="rId20"/>
    </p:embeddedFont>
    <p:embeddedFont>
      <p:font typeface="Poppins" charset="1" panose="0000050000000000000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2.png" Type="http://schemas.openxmlformats.org/officeDocument/2006/relationships/image"/><Relationship Id="rId14" Target="../media/image13.png" Type="http://schemas.openxmlformats.org/officeDocument/2006/relationships/image"/><Relationship Id="rId15" Target="../media/image14.png" Type="http://schemas.openxmlformats.org/officeDocument/2006/relationships/image"/><Relationship Id="rId16" Target="../media/image15.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jpeg" Type="http://schemas.openxmlformats.org/officeDocument/2006/relationships/image"/><Relationship Id="rId3" Target="../media/image17.png" Type="http://schemas.openxmlformats.org/officeDocument/2006/relationships/image"/><Relationship Id="rId4" Target="../media/image1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jpe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21.svg" Type="http://schemas.openxmlformats.org/officeDocument/2006/relationships/image"/><Relationship Id="rId4" Target="../media/image22.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jpeg" Type="http://schemas.openxmlformats.org/officeDocument/2006/relationships/image"/><Relationship Id="rId3" Target="../media/image24.jpeg" Type="http://schemas.openxmlformats.org/officeDocument/2006/relationships/image"/><Relationship Id="rId4" Target="../media/image25.png" Type="http://schemas.openxmlformats.org/officeDocument/2006/relationships/image"/><Relationship Id="rId5" Target="../media/image26.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jpeg" Type="http://schemas.openxmlformats.org/officeDocument/2006/relationships/image"/><Relationship Id="rId3" Target="../media/image28.jpeg" Type="http://schemas.openxmlformats.org/officeDocument/2006/relationships/image"/><Relationship Id="rId4" Target="../media/image29.jpeg" Type="http://schemas.openxmlformats.org/officeDocument/2006/relationships/image"/><Relationship Id="rId5" Target="../media/image30.jpeg" Type="http://schemas.openxmlformats.org/officeDocument/2006/relationships/image"/><Relationship Id="rId6" Target="../media/image31.png" Type="http://schemas.openxmlformats.org/officeDocument/2006/relationships/image"/><Relationship Id="rId7" Target="../media/image32.svg" Type="http://schemas.openxmlformats.org/officeDocument/2006/relationships/image"/><Relationship Id="rId8" Target="../media/image33.png" Type="http://schemas.openxmlformats.org/officeDocument/2006/relationships/image"/><Relationship Id="rId9" Target="../media/image34.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png" Type="http://schemas.openxmlformats.org/officeDocument/2006/relationships/image"/><Relationship Id="rId3" Target="../media/image36.svg" Type="http://schemas.openxmlformats.org/officeDocument/2006/relationships/image"/><Relationship Id="rId4" Target="../media/image37.png" Type="http://schemas.openxmlformats.org/officeDocument/2006/relationships/image"/><Relationship Id="rId5" Target="../media/image38.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9.jpe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0.png" Type="http://schemas.openxmlformats.org/officeDocument/2006/relationships/image"/><Relationship Id="rId3" Target="../media/image41.svg" Type="http://schemas.openxmlformats.org/officeDocument/2006/relationships/image"/><Relationship Id="rId4" Target="../media/image42.png" Type="http://schemas.openxmlformats.org/officeDocument/2006/relationships/image"/><Relationship Id="rId5" Target="../media/image43.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png" Type="http://schemas.openxmlformats.org/officeDocument/2006/relationships/image"/><Relationship Id="rId3" Target="../media/image36.svg" Type="http://schemas.openxmlformats.org/officeDocument/2006/relationships/image"/><Relationship Id="rId4" Target="../media/image40.png" Type="http://schemas.openxmlformats.org/officeDocument/2006/relationships/image"/><Relationship Id="rId5" Target="../media/image41.sv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4E9DF"/>
        </a:solidFill>
      </p:bgPr>
    </p:bg>
    <p:spTree>
      <p:nvGrpSpPr>
        <p:cNvPr id="1" name=""/>
        <p:cNvGrpSpPr/>
        <p:nvPr/>
      </p:nvGrpSpPr>
      <p:grpSpPr>
        <a:xfrm>
          <a:off x="0" y="0"/>
          <a:ext cx="0" cy="0"/>
          <a:chOff x="0" y="0"/>
          <a:chExt cx="0" cy="0"/>
        </a:xfrm>
      </p:grpSpPr>
      <p:sp>
        <p:nvSpPr>
          <p:cNvPr name="Freeform 2" id="2"/>
          <p:cNvSpPr/>
          <p:nvPr/>
        </p:nvSpPr>
        <p:spPr>
          <a:xfrm flipH="true" flipV="true" rot="0">
            <a:off x="9891471" y="1941906"/>
            <a:ext cx="8789899" cy="10069574"/>
          </a:xfrm>
          <a:custGeom>
            <a:avLst/>
            <a:gdLst/>
            <a:ahLst/>
            <a:cxnLst/>
            <a:rect r="r" b="b" t="t" l="l"/>
            <a:pathLst>
              <a:path h="10069574" w="8789899">
                <a:moveTo>
                  <a:pt x="8789899" y="10069574"/>
                </a:moveTo>
                <a:lnTo>
                  <a:pt x="0" y="10069574"/>
                </a:lnTo>
                <a:lnTo>
                  <a:pt x="0" y="0"/>
                </a:lnTo>
                <a:lnTo>
                  <a:pt x="8789899" y="0"/>
                </a:lnTo>
                <a:lnTo>
                  <a:pt x="8789899" y="10069574"/>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9986721" y="2371975"/>
            <a:ext cx="7018939" cy="6755790"/>
            <a:chOff x="30480" y="591820"/>
            <a:chExt cx="12736830" cy="12259310"/>
          </a:xfrm>
        </p:grpSpPr>
        <p:sp>
          <p:nvSpPr>
            <p:cNvPr name="Freeform 4" id="4"/>
            <p:cNvSpPr/>
            <p:nvPr/>
          </p:nvSpPr>
          <p:spPr>
            <a:xfrm flipH="false" flipV="false" rot="0">
              <a:off x="0" y="0"/>
              <a:ext cx="12736830" cy="12259310"/>
            </a:xfrm>
            <a:custGeom>
              <a:avLst/>
              <a:gdLst/>
              <a:ahLst/>
              <a:cxnLst/>
              <a:rect r="r" b="b" t="t" l="l"/>
              <a:pathLst>
                <a:path h="12259310" w="12736830">
                  <a:moveTo>
                    <a:pt x="11925300" y="4271010"/>
                  </a:moveTo>
                  <a:cubicBezTo>
                    <a:pt x="10819130" y="2120900"/>
                    <a:pt x="8590280" y="544830"/>
                    <a:pt x="6215380" y="297180"/>
                  </a:cubicBezTo>
                  <a:cubicBezTo>
                    <a:pt x="4277360" y="0"/>
                    <a:pt x="3002280" y="913130"/>
                    <a:pt x="1960880" y="2170430"/>
                  </a:cubicBezTo>
                  <a:cubicBezTo>
                    <a:pt x="919480" y="3427730"/>
                    <a:pt x="365760" y="5030470"/>
                    <a:pt x="142240" y="6647180"/>
                  </a:cubicBezTo>
                  <a:cubicBezTo>
                    <a:pt x="24130" y="7500620"/>
                    <a:pt x="0" y="8406130"/>
                    <a:pt x="361950" y="9188450"/>
                  </a:cubicBezTo>
                  <a:cubicBezTo>
                    <a:pt x="820420" y="10180320"/>
                    <a:pt x="1822450" y="10811510"/>
                    <a:pt x="2842260" y="11203940"/>
                  </a:cubicBezTo>
                  <a:cubicBezTo>
                    <a:pt x="5585460" y="12259310"/>
                    <a:pt x="8953501" y="11850370"/>
                    <a:pt x="11088370" y="9828530"/>
                  </a:cubicBezTo>
                  <a:cubicBezTo>
                    <a:pt x="11756390" y="9196070"/>
                    <a:pt x="12303760" y="8403590"/>
                    <a:pt x="12499340" y="7504430"/>
                  </a:cubicBezTo>
                  <a:cubicBezTo>
                    <a:pt x="12736830" y="6413500"/>
                    <a:pt x="12435840" y="5264150"/>
                    <a:pt x="11925300" y="4271010"/>
                  </a:cubicBezTo>
                  <a:close/>
                </a:path>
              </a:pathLst>
            </a:custGeom>
            <a:blipFill>
              <a:blip r:embed="rId4"/>
              <a:stretch>
                <a:fillRect l="0" t="-3754" r="0" b="-3754"/>
              </a:stretch>
            </a:blipFill>
            <a:ln w="95250" cap="sq">
              <a:solidFill>
                <a:srgbClr val="C84C11"/>
              </a:solidFill>
              <a:prstDash val="solid"/>
              <a:miter/>
            </a:ln>
          </p:spPr>
        </p:sp>
      </p:grpSp>
      <p:sp>
        <p:nvSpPr>
          <p:cNvPr name="Freeform 5" id="5"/>
          <p:cNvSpPr/>
          <p:nvPr/>
        </p:nvSpPr>
        <p:spPr>
          <a:xfrm flipH="true" flipV="false" rot="0">
            <a:off x="-807226" y="7867400"/>
            <a:ext cx="4239133" cy="2686551"/>
          </a:xfrm>
          <a:custGeom>
            <a:avLst/>
            <a:gdLst/>
            <a:ahLst/>
            <a:cxnLst/>
            <a:rect r="r" b="b" t="t" l="l"/>
            <a:pathLst>
              <a:path h="2686551" w="4239133">
                <a:moveTo>
                  <a:pt x="4239134" y="0"/>
                </a:moveTo>
                <a:lnTo>
                  <a:pt x="0" y="0"/>
                </a:lnTo>
                <a:lnTo>
                  <a:pt x="0" y="2686550"/>
                </a:lnTo>
                <a:lnTo>
                  <a:pt x="4239134" y="2686550"/>
                </a:lnTo>
                <a:lnTo>
                  <a:pt x="4239134"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215498" y="-585040"/>
            <a:ext cx="3552841" cy="4070080"/>
          </a:xfrm>
          <a:custGeom>
            <a:avLst/>
            <a:gdLst/>
            <a:ahLst/>
            <a:cxnLst/>
            <a:rect r="r" b="b" t="t" l="l"/>
            <a:pathLst>
              <a:path h="4070080" w="3552841">
                <a:moveTo>
                  <a:pt x="0" y="0"/>
                </a:moveTo>
                <a:lnTo>
                  <a:pt x="3552840" y="0"/>
                </a:lnTo>
                <a:lnTo>
                  <a:pt x="3552840" y="4070080"/>
                </a:lnTo>
                <a:lnTo>
                  <a:pt x="0" y="407008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1312341" y="7867400"/>
            <a:ext cx="3560950" cy="850177"/>
          </a:xfrm>
          <a:custGeom>
            <a:avLst/>
            <a:gdLst/>
            <a:ahLst/>
            <a:cxnLst/>
            <a:rect r="r" b="b" t="t" l="l"/>
            <a:pathLst>
              <a:path h="850177" w="3560950">
                <a:moveTo>
                  <a:pt x="0" y="0"/>
                </a:moveTo>
                <a:lnTo>
                  <a:pt x="3560950" y="0"/>
                </a:lnTo>
                <a:lnTo>
                  <a:pt x="3560950" y="850176"/>
                </a:lnTo>
                <a:lnTo>
                  <a:pt x="0" y="85017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8" id="8"/>
          <p:cNvSpPr/>
          <p:nvPr/>
        </p:nvSpPr>
        <p:spPr>
          <a:xfrm flipH="false" flipV="true" rot="0">
            <a:off x="14647780" y="-314575"/>
            <a:ext cx="4239133" cy="2686551"/>
          </a:xfrm>
          <a:custGeom>
            <a:avLst/>
            <a:gdLst/>
            <a:ahLst/>
            <a:cxnLst/>
            <a:rect r="r" b="b" t="t" l="l"/>
            <a:pathLst>
              <a:path h="2686551" w="4239133">
                <a:moveTo>
                  <a:pt x="0" y="2686550"/>
                </a:moveTo>
                <a:lnTo>
                  <a:pt x="4239134" y="2686550"/>
                </a:lnTo>
                <a:lnTo>
                  <a:pt x="4239134" y="0"/>
                </a:lnTo>
                <a:lnTo>
                  <a:pt x="0" y="0"/>
                </a:lnTo>
                <a:lnTo>
                  <a:pt x="0" y="268655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9" id="9"/>
          <p:cNvSpPr/>
          <p:nvPr/>
        </p:nvSpPr>
        <p:spPr>
          <a:xfrm flipH="false" flipV="true" rot="0">
            <a:off x="7363525" y="1644264"/>
            <a:ext cx="3560950" cy="850177"/>
          </a:xfrm>
          <a:custGeom>
            <a:avLst/>
            <a:gdLst/>
            <a:ahLst/>
            <a:cxnLst/>
            <a:rect r="r" b="b" t="t" l="l"/>
            <a:pathLst>
              <a:path h="850177" w="3560950">
                <a:moveTo>
                  <a:pt x="0" y="850176"/>
                </a:moveTo>
                <a:lnTo>
                  <a:pt x="3560950" y="850176"/>
                </a:lnTo>
                <a:lnTo>
                  <a:pt x="3560950" y="0"/>
                </a:lnTo>
                <a:lnTo>
                  <a:pt x="0" y="0"/>
                </a:lnTo>
                <a:lnTo>
                  <a:pt x="0" y="850176"/>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0" id="10"/>
          <p:cNvSpPr/>
          <p:nvPr/>
        </p:nvSpPr>
        <p:spPr>
          <a:xfrm flipH="false" flipV="false" rot="0">
            <a:off x="4576013" y="5418109"/>
            <a:ext cx="4171353" cy="4171353"/>
          </a:xfrm>
          <a:custGeom>
            <a:avLst/>
            <a:gdLst/>
            <a:ahLst/>
            <a:cxnLst/>
            <a:rect r="r" b="b" t="t" l="l"/>
            <a:pathLst>
              <a:path h="4171353" w="4171353">
                <a:moveTo>
                  <a:pt x="0" y="0"/>
                </a:moveTo>
                <a:lnTo>
                  <a:pt x="4171353" y="0"/>
                </a:lnTo>
                <a:lnTo>
                  <a:pt x="4171353" y="4171353"/>
                </a:lnTo>
                <a:lnTo>
                  <a:pt x="0" y="4171353"/>
                </a:lnTo>
                <a:lnTo>
                  <a:pt x="0" y="0"/>
                </a:lnTo>
                <a:close/>
              </a:path>
            </a:pathLst>
          </a:custGeom>
          <a:blipFill>
            <a:blip r:embed="rId13"/>
            <a:stretch>
              <a:fillRect l="0" t="0" r="0" b="0"/>
            </a:stretch>
          </a:blipFill>
        </p:spPr>
      </p:sp>
      <p:sp>
        <p:nvSpPr>
          <p:cNvPr name="TextBox 11" id="11"/>
          <p:cNvSpPr txBox="true"/>
          <p:nvPr/>
        </p:nvSpPr>
        <p:spPr>
          <a:xfrm rot="0">
            <a:off x="1560922" y="3599340"/>
            <a:ext cx="5024014" cy="2397448"/>
          </a:xfrm>
          <a:prstGeom prst="rect">
            <a:avLst/>
          </a:prstGeom>
        </p:spPr>
        <p:txBody>
          <a:bodyPr anchor="t" rtlCol="false" tIns="0" lIns="0" bIns="0" rIns="0">
            <a:spAutoFit/>
          </a:bodyPr>
          <a:lstStyle/>
          <a:p>
            <a:pPr algn="l">
              <a:lnSpc>
                <a:spcPts val="19582"/>
              </a:lnSpc>
              <a:spcBef>
                <a:spcPct val="0"/>
              </a:spcBef>
            </a:pPr>
            <a:r>
              <a:rPr lang="en-US" b="true" sz="13987">
                <a:solidFill>
                  <a:srgbClr val="A47764"/>
                </a:solidFill>
                <a:latin typeface="Signika Bold"/>
                <a:ea typeface="Signika Bold"/>
                <a:cs typeface="Signika Bold"/>
                <a:sym typeface="Signika Bold"/>
              </a:rPr>
              <a:t>AIPET</a:t>
            </a:r>
          </a:p>
        </p:txBody>
      </p:sp>
      <p:grpSp>
        <p:nvGrpSpPr>
          <p:cNvPr name="Group 12" id="12"/>
          <p:cNvGrpSpPr/>
          <p:nvPr/>
        </p:nvGrpSpPr>
        <p:grpSpPr>
          <a:xfrm rot="0">
            <a:off x="1966277" y="5749870"/>
            <a:ext cx="4213304" cy="884721"/>
            <a:chOff x="0" y="0"/>
            <a:chExt cx="5617738" cy="1179628"/>
          </a:xfrm>
        </p:grpSpPr>
        <p:grpSp>
          <p:nvGrpSpPr>
            <p:cNvPr name="Group 13" id="13"/>
            <p:cNvGrpSpPr/>
            <p:nvPr/>
          </p:nvGrpSpPr>
          <p:grpSpPr>
            <a:xfrm rot="0">
              <a:off x="0" y="0"/>
              <a:ext cx="5617738" cy="1179628"/>
              <a:chOff x="0" y="0"/>
              <a:chExt cx="1109677" cy="233013"/>
            </a:xfrm>
          </p:grpSpPr>
          <p:sp>
            <p:nvSpPr>
              <p:cNvPr name="Freeform 14" id="14"/>
              <p:cNvSpPr/>
              <p:nvPr/>
            </p:nvSpPr>
            <p:spPr>
              <a:xfrm flipH="false" flipV="false" rot="0">
                <a:off x="0" y="0"/>
                <a:ext cx="1109677" cy="233013"/>
              </a:xfrm>
              <a:custGeom>
                <a:avLst/>
                <a:gdLst/>
                <a:ahLst/>
                <a:cxnLst/>
                <a:rect r="r" b="b" t="t" l="l"/>
                <a:pathLst>
                  <a:path h="233013" w="1109677">
                    <a:moveTo>
                      <a:pt x="93712" y="0"/>
                    </a:moveTo>
                    <a:lnTo>
                      <a:pt x="1015965" y="0"/>
                    </a:lnTo>
                    <a:cubicBezTo>
                      <a:pt x="1067720" y="0"/>
                      <a:pt x="1109677" y="41956"/>
                      <a:pt x="1109677" y="93712"/>
                    </a:cubicBezTo>
                    <a:lnTo>
                      <a:pt x="1109677" y="139301"/>
                    </a:lnTo>
                    <a:cubicBezTo>
                      <a:pt x="1109677" y="191057"/>
                      <a:pt x="1067720" y="233013"/>
                      <a:pt x="1015965" y="233013"/>
                    </a:cubicBezTo>
                    <a:lnTo>
                      <a:pt x="93712" y="233013"/>
                    </a:lnTo>
                    <a:cubicBezTo>
                      <a:pt x="68858" y="233013"/>
                      <a:pt x="45022" y="223140"/>
                      <a:pt x="27448" y="205565"/>
                    </a:cubicBezTo>
                    <a:cubicBezTo>
                      <a:pt x="9873" y="187991"/>
                      <a:pt x="0" y="164155"/>
                      <a:pt x="0" y="139301"/>
                    </a:cubicBezTo>
                    <a:lnTo>
                      <a:pt x="0" y="93712"/>
                    </a:lnTo>
                    <a:cubicBezTo>
                      <a:pt x="0" y="68858"/>
                      <a:pt x="9873" y="45022"/>
                      <a:pt x="27448" y="27448"/>
                    </a:cubicBezTo>
                    <a:cubicBezTo>
                      <a:pt x="45022" y="9873"/>
                      <a:pt x="68858" y="0"/>
                      <a:pt x="93712" y="0"/>
                    </a:cubicBezTo>
                    <a:close/>
                  </a:path>
                </a:pathLst>
              </a:custGeom>
              <a:solidFill>
                <a:srgbClr val="D19C97"/>
              </a:solidFill>
            </p:spPr>
          </p:sp>
          <p:sp>
            <p:nvSpPr>
              <p:cNvPr name="TextBox 15" id="15"/>
              <p:cNvSpPr txBox="true"/>
              <p:nvPr/>
            </p:nvSpPr>
            <p:spPr>
              <a:xfrm>
                <a:off x="0" y="-38100"/>
                <a:ext cx="1109677" cy="271113"/>
              </a:xfrm>
              <a:prstGeom prst="rect">
                <a:avLst/>
              </a:prstGeom>
            </p:spPr>
            <p:txBody>
              <a:bodyPr anchor="ctr" rtlCol="false" tIns="50800" lIns="50800" bIns="50800" rIns="50800"/>
              <a:lstStyle/>
              <a:p>
                <a:pPr algn="ctr">
                  <a:lnSpc>
                    <a:spcPts val="2659"/>
                  </a:lnSpc>
                  <a:spcBef>
                    <a:spcPct val="0"/>
                  </a:spcBef>
                </a:pPr>
              </a:p>
            </p:txBody>
          </p:sp>
        </p:grpSp>
        <p:sp>
          <p:nvSpPr>
            <p:cNvPr name="TextBox 16" id="16"/>
            <p:cNvSpPr txBox="true"/>
            <p:nvPr/>
          </p:nvSpPr>
          <p:spPr>
            <a:xfrm rot="0">
              <a:off x="194039" y="141081"/>
              <a:ext cx="5229660" cy="802217"/>
            </a:xfrm>
            <a:prstGeom prst="rect">
              <a:avLst/>
            </a:prstGeom>
          </p:spPr>
          <p:txBody>
            <a:bodyPr anchor="t" rtlCol="false" tIns="0" lIns="0" bIns="0" rIns="0">
              <a:spAutoFit/>
            </a:bodyPr>
            <a:lstStyle/>
            <a:p>
              <a:pPr algn="ctr">
                <a:lnSpc>
                  <a:spcPts val="4899"/>
                </a:lnSpc>
                <a:spcBef>
                  <a:spcPct val="0"/>
                </a:spcBef>
              </a:pPr>
              <a:r>
                <a:rPr lang="en-US" b="true" sz="3499">
                  <a:solidFill>
                    <a:srgbClr val="FFFFFF"/>
                  </a:solidFill>
                  <a:latin typeface="Poppins Medium"/>
                  <a:ea typeface="Poppins Medium"/>
                  <a:cs typeface="Poppins Medium"/>
                  <a:sym typeface="Poppins Medium"/>
                </a:rPr>
                <a:t>“賢いペット生活”</a:t>
              </a:r>
            </a:p>
          </p:txBody>
        </p:sp>
      </p:grpSp>
      <p:grpSp>
        <p:nvGrpSpPr>
          <p:cNvPr name="Group 17" id="17"/>
          <p:cNvGrpSpPr/>
          <p:nvPr/>
        </p:nvGrpSpPr>
        <p:grpSpPr>
          <a:xfrm rot="0">
            <a:off x="2100482" y="2619092"/>
            <a:ext cx="3944893" cy="1368863"/>
            <a:chOff x="0" y="0"/>
            <a:chExt cx="5259857" cy="1825150"/>
          </a:xfrm>
        </p:grpSpPr>
        <p:sp>
          <p:nvSpPr>
            <p:cNvPr name="Freeform 18" id="18"/>
            <p:cNvSpPr/>
            <p:nvPr/>
          </p:nvSpPr>
          <p:spPr>
            <a:xfrm flipH="false" flipV="false" rot="0">
              <a:off x="0" y="0"/>
              <a:ext cx="2211971" cy="1825150"/>
            </a:xfrm>
            <a:custGeom>
              <a:avLst/>
              <a:gdLst/>
              <a:ahLst/>
              <a:cxnLst/>
              <a:rect r="r" b="b" t="t" l="l"/>
              <a:pathLst>
                <a:path h="1825150" w="2211971">
                  <a:moveTo>
                    <a:pt x="0" y="0"/>
                  </a:moveTo>
                  <a:lnTo>
                    <a:pt x="2211971" y="0"/>
                  </a:lnTo>
                  <a:lnTo>
                    <a:pt x="2211971" y="1825150"/>
                  </a:lnTo>
                  <a:lnTo>
                    <a:pt x="0" y="1825150"/>
                  </a:lnTo>
                  <a:lnTo>
                    <a:pt x="0" y="0"/>
                  </a:lnTo>
                  <a:close/>
                </a:path>
              </a:pathLst>
            </a:custGeom>
            <a:blipFill>
              <a:blip r:embed="rId14"/>
              <a:stretch>
                <a:fillRect l="-11808" t="0" r="-12595" b="0"/>
              </a:stretch>
            </a:blipFill>
          </p:spPr>
        </p:sp>
        <p:sp>
          <p:nvSpPr>
            <p:cNvPr name="TextBox 19" id="19"/>
            <p:cNvSpPr txBox="true"/>
            <p:nvPr/>
          </p:nvSpPr>
          <p:spPr>
            <a:xfrm rot="0">
              <a:off x="2211971" y="1129826"/>
              <a:ext cx="3047887" cy="695325"/>
            </a:xfrm>
            <a:prstGeom prst="rect">
              <a:avLst/>
            </a:prstGeom>
          </p:spPr>
          <p:txBody>
            <a:bodyPr anchor="t" rtlCol="false" tIns="0" lIns="0" bIns="0" rIns="0">
              <a:spAutoFit/>
            </a:bodyPr>
            <a:lstStyle/>
            <a:p>
              <a:pPr algn="l">
                <a:lnSpc>
                  <a:spcPts val="4200"/>
                </a:lnSpc>
                <a:spcBef>
                  <a:spcPct val="0"/>
                </a:spcBef>
              </a:pPr>
              <a:r>
                <a:rPr lang="en-US" b="true" sz="3000">
                  <a:solidFill>
                    <a:srgbClr val="000000"/>
                  </a:solidFill>
                  <a:latin typeface="Poppins Semi-Bold"/>
                  <a:ea typeface="Poppins Semi-Bold"/>
                  <a:cs typeface="Poppins Semi-Bold"/>
                  <a:sym typeface="Poppins Semi-Bold"/>
                </a:rPr>
                <a:t>ITSolutionZ</a:t>
              </a:r>
            </a:p>
          </p:txBody>
        </p:sp>
      </p:grpSp>
      <p:sp>
        <p:nvSpPr>
          <p:cNvPr name="Freeform 20" id="20"/>
          <p:cNvSpPr/>
          <p:nvPr/>
        </p:nvSpPr>
        <p:spPr>
          <a:xfrm flipH="false" flipV="false" rot="2953397">
            <a:off x="12175060" y="4792253"/>
            <a:ext cx="902078" cy="702493"/>
          </a:xfrm>
          <a:custGeom>
            <a:avLst/>
            <a:gdLst/>
            <a:ahLst/>
            <a:cxnLst/>
            <a:rect r="r" b="b" t="t" l="l"/>
            <a:pathLst>
              <a:path h="702493" w="902078">
                <a:moveTo>
                  <a:pt x="0" y="0"/>
                </a:moveTo>
                <a:lnTo>
                  <a:pt x="902079" y="0"/>
                </a:lnTo>
                <a:lnTo>
                  <a:pt x="902079" y="702494"/>
                </a:lnTo>
                <a:lnTo>
                  <a:pt x="0" y="702494"/>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7EED3"/>
        </a:solidFill>
      </p:bgPr>
    </p:bg>
    <p:spTree>
      <p:nvGrpSpPr>
        <p:cNvPr id="1" name=""/>
        <p:cNvGrpSpPr/>
        <p:nvPr/>
      </p:nvGrpSpPr>
      <p:grpSpPr>
        <a:xfrm>
          <a:off x="0" y="0"/>
          <a:ext cx="0" cy="0"/>
          <a:chOff x="0" y="0"/>
          <a:chExt cx="0" cy="0"/>
        </a:xfrm>
      </p:grpSpPr>
      <p:grpSp>
        <p:nvGrpSpPr>
          <p:cNvPr name="Group 2" id="2"/>
          <p:cNvGrpSpPr/>
          <p:nvPr/>
        </p:nvGrpSpPr>
        <p:grpSpPr>
          <a:xfrm rot="0">
            <a:off x="10413728" y="1302358"/>
            <a:ext cx="6680763" cy="7342509"/>
            <a:chOff x="487680" y="-128270"/>
            <a:chExt cx="11526520" cy="12668250"/>
          </a:xfrm>
        </p:grpSpPr>
        <p:sp>
          <p:nvSpPr>
            <p:cNvPr name="Freeform 3" id="3"/>
            <p:cNvSpPr/>
            <p:nvPr/>
          </p:nvSpPr>
          <p:spPr>
            <a:xfrm flipH="false" flipV="false" rot="0">
              <a:off x="0" y="0"/>
              <a:ext cx="11526520" cy="12668250"/>
            </a:xfrm>
            <a:custGeom>
              <a:avLst/>
              <a:gdLst/>
              <a:ahLst/>
              <a:cxnLst/>
              <a:rect r="r" b="b" t="t" l="l"/>
              <a:pathLst>
                <a:path h="12668250" w="11526520">
                  <a:moveTo>
                    <a:pt x="8704580" y="1238250"/>
                  </a:moveTo>
                  <a:cubicBezTo>
                    <a:pt x="7128510" y="156210"/>
                    <a:pt x="5292090" y="0"/>
                    <a:pt x="3665220" y="645160"/>
                  </a:cubicBezTo>
                  <a:cubicBezTo>
                    <a:pt x="2532380" y="1084580"/>
                    <a:pt x="1497330" y="2092960"/>
                    <a:pt x="867410" y="3538220"/>
                  </a:cubicBezTo>
                  <a:cubicBezTo>
                    <a:pt x="91440" y="5316220"/>
                    <a:pt x="0" y="7744460"/>
                    <a:pt x="750570" y="9545320"/>
                  </a:cubicBezTo>
                  <a:cubicBezTo>
                    <a:pt x="1283970" y="10824210"/>
                    <a:pt x="2186940" y="11713210"/>
                    <a:pt x="3159760" y="12166600"/>
                  </a:cubicBezTo>
                  <a:cubicBezTo>
                    <a:pt x="4132580" y="12619990"/>
                    <a:pt x="5175250" y="12668250"/>
                    <a:pt x="6191250" y="12534900"/>
                  </a:cubicBezTo>
                  <a:cubicBezTo>
                    <a:pt x="7296150" y="12390120"/>
                    <a:pt x="8411210" y="12021820"/>
                    <a:pt x="9358630" y="11172190"/>
                  </a:cubicBezTo>
                  <a:cubicBezTo>
                    <a:pt x="10306050" y="10322560"/>
                    <a:pt x="11070590" y="8936990"/>
                    <a:pt x="11247120" y="7327900"/>
                  </a:cubicBezTo>
                  <a:cubicBezTo>
                    <a:pt x="11526520" y="4803140"/>
                    <a:pt x="10281920" y="2320290"/>
                    <a:pt x="8704580" y="1238250"/>
                  </a:cubicBezTo>
                  <a:close/>
                </a:path>
              </a:pathLst>
            </a:custGeom>
            <a:blipFill>
              <a:blip r:embed="rId2"/>
              <a:stretch>
                <a:fillRect l="-33607" t="0" r="-33607" b="0"/>
              </a:stretch>
            </a:blipFill>
            <a:ln w="66675" cap="sq">
              <a:solidFill>
                <a:srgbClr val="C84C11"/>
              </a:solidFill>
              <a:prstDash val="solid"/>
              <a:miter/>
            </a:ln>
          </p:spPr>
        </p:sp>
      </p:grpSp>
      <p:sp>
        <p:nvSpPr>
          <p:cNvPr name="TextBox 4" id="4"/>
          <p:cNvSpPr txBox="true"/>
          <p:nvPr/>
        </p:nvSpPr>
        <p:spPr>
          <a:xfrm rot="0">
            <a:off x="1813418" y="2271270"/>
            <a:ext cx="8001643" cy="1114426"/>
          </a:xfrm>
          <a:prstGeom prst="rect">
            <a:avLst/>
          </a:prstGeom>
        </p:spPr>
        <p:txBody>
          <a:bodyPr anchor="t" rtlCol="false" tIns="0" lIns="0" bIns="0" rIns="0">
            <a:spAutoFit/>
          </a:bodyPr>
          <a:lstStyle/>
          <a:p>
            <a:pPr algn="l">
              <a:lnSpc>
                <a:spcPts val="8625"/>
              </a:lnSpc>
            </a:pPr>
            <a:r>
              <a:rPr lang="en-US" sz="7500" b="true">
                <a:solidFill>
                  <a:srgbClr val="C84C11"/>
                </a:solidFill>
                <a:latin typeface="Signika Bold"/>
                <a:ea typeface="Signika Bold"/>
                <a:cs typeface="Signika Bold"/>
                <a:sym typeface="Signika Bold"/>
              </a:rPr>
              <a:t>INTRODUCTION</a:t>
            </a:r>
          </a:p>
        </p:txBody>
      </p:sp>
      <p:sp>
        <p:nvSpPr>
          <p:cNvPr name="TextBox 5" id="5"/>
          <p:cNvSpPr txBox="true"/>
          <p:nvPr/>
        </p:nvSpPr>
        <p:spPr>
          <a:xfrm rot="0">
            <a:off x="1813418" y="3709910"/>
            <a:ext cx="8354187" cy="888999"/>
          </a:xfrm>
          <a:prstGeom prst="rect">
            <a:avLst/>
          </a:prstGeom>
        </p:spPr>
        <p:txBody>
          <a:bodyPr anchor="t" rtlCol="false" tIns="0" lIns="0" bIns="0" rIns="0">
            <a:spAutoFit/>
          </a:bodyPr>
          <a:lstStyle/>
          <a:p>
            <a:pPr algn="just">
              <a:lnSpc>
                <a:spcPts val="3500"/>
              </a:lnSpc>
            </a:pPr>
            <a:r>
              <a:rPr lang="en-US" sz="2500" b="true">
                <a:solidFill>
                  <a:srgbClr val="56453F"/>
                </a:solidFill>
                <a:latin typeface="Poppins Semi-Bold"/>
                <a:ea typeface="Poppins Semi-Bold"/>
                <a:cs typeface="Poppins Semi-Bold"/>
                <a:sym typeface="Poppins Semi-Bold"/>
              </a:rPr>
              <a:t>技術でつながり、心で寄り添い</a:t>
            </a:r>
            <a:r>
              <a:rPr lang="en-US" sz="2500" b="true">
                <a:solidFill>
                  <a:srgbClr val="56453F"/>
                </a:solidFill>
                <a:latin typeface="Poppins Semi-Bold"/>
                <a:ea typeface="Poppins Semi-Bold"/>
                <a:cs typeface="Poppins Semi-Bold"/>
                <a:sym typeface="Poppins Semi-Bold"/>
              </a:rPr>
              <a:t>単なる同僚ではなく、</a:t>
            </a:r>
          </a:p>
          <a:p>
            <a:pPr algn="just">
              <a:lnSpc>
                <a:spcPts val="3500"/>
              </a:lnSpc>
              <a:spcBef>
                <a:spcPct val="0"/>
              </a:spcBef>
            </a:pPr>
            <a:r>
              <a:rPr lang="en-US" b="true" sz="2500">
                <a:solidFill>
                  <a:srgbClr val="56453F"/>
                </a:solidFill>
                <a:latin typeface="Poppins Semi-Bold"/>
                <a:ea typeface="Poppins Semi-Bold"/>
                <a:cs typeface="Poppins Semi-Bold"/>
                <a:sym typeface="Poppins Semi-Bold"/>
              </a:rPr>
              <a:t>互いの成長を支えるパートナーです。</a:t>
            </a:r>
          </a:p>
        </p:txBody>
      </p:sp>
      <p:sp>
        <p:nvSpPr>
          <p:cNvPr name="TextBox 6" id="6"/>
          <p:cNvSpPr txBox="true"/>
          <p:nvPr/>
        </p:nvSpPr>
        <p:spPr>
          <a:xfrm rot="0">
            <a:off x="1813418" y="4895799"/>
            <a:ext cx="8354187" cy="1327149"/>
          </a:xfrm>
          <a:prstGeom prst="rect">
            <a:avLst/>
          </a:prstGeom>
        </p:spPr>
        <p:txBody>
          <a:bodyPr anchor="t" rtlCol="false" tIns="0" lIns="0" bIns="0" rIns="0">
            <a:spAutoFit/>
          </a:bodyPr>
          <a:lstStyle/>
          <a:p>
            <a:pPr algn="just">
              <a:lnSpc>
                <a:spcPts val="3500"/>
              </a:lnSpc>
            </a:pPr>
            <a:r>
              <a:rPr lang="en-US" sz="2500" b="true">
                <a:solidFill>
                  <a:srgbClr val="56453F"/>
                </a:solidFill>
                <a:latin typeface="Poppins Semi-Bold"/>
                <a:ea typeface="Poppins Semi-Bold"/>
                <a:cs typeface="Poppins Semi-Bold"/>
                <a:sym typeface="Poppins Semi-Bold"/>
              </a:rPr>
              <a:t>専門性と人間味を兼ね備えたITチームとして、</a:t>
            </a:r>
          </a:p>
          <a:p>
            <a:pPr algn="just">
              <a:lnSpc>
                <a:spcPts val="3500"/>
              </a:lnSpc>
            </a:pPr>
            <a:r>
              <a:rPr lang="en-US" sz="2500" b="true">
                <a:solidFill>
                  <a:srgbClr val="56453F"/>
                </a:solidFill>
                <a:latin typeface="Poppins Semi-Bold"/>
                <a:ea typeface="Poppins Semi-Bold"/>
                <a:cs typeface="Poppins Semi-Bold"/>
                <a:sym typeface="Poppins Semi-Bold"/>
              </a:rPr>
              <a:t>私たちの強みは優れた技術力以上に、</a:t>
            </a:r>
          </a:p>
          <a:p>
            <a:pPr algn="just">
              <a:lnSpc>
                <a:spcPts val="3500"/>
              </a:lnSpc>
              <a:spcBef>
                <a:spcPct val="0"/>
              </a:spcBef>
            </a:pPr>
            <a:r>
              <a:rPr lang="en-US" b="true" sz="2500">
                <a:solidFill>
                  <a:srgbClr val="56453F"/>
                </a:solidFill>
                <a:latin typeface="Poppins Semi-Bold"/>
                <a:ea typeface="Poppins Semi-Bold"/>
                <a:cs typeface="Poppins Semi-Bold"/>
                <a:sym typeface="Poppins Semi-Bold"/>
              </a:rPr>
              <a:t>仲間</a:t>
            </a:r>
            <a:r>
              <a:rPr lang="en-US" b="true" sz="2500">
                <a:solidFill>
                  <a:srgbClr val="56453F"/>
                </a:solidFill>
                <a:latin typeface="Poppins Semi-Bold"/>
                <a:ea typeface="Poppins Semi-Bold"/>
                <a:cs typeface="Poppins Semi-Bold"/>
                <a:sym typeface="Poppins Semi-Bold"/>
              </a:rPr>
              <a:t>同士の信頼と絆にあります。</a:t>
            </a:r>
          </a:p>
        </p:txBody>
      </p:sp>
      <p:sp>
        <p:nvSpPr>
          <p:cNvPr name="TextBox 7" id="7"/>
          <p:cNvSpPr txBox="true"/>
          <p:nvPr/>
        </p:nvSpPr>
        <p:spPr>
          <a:xfrm rot="0">
            <a:off x="1813418" y="6519837"/>
            <a:ext cx="8354187" cy="888999"/>
          </a:xfrm>
          <a:prstGeom prst="rect">
            <a:avLst/>
          </a:prstGeom>
        </p:spPr>
        <p:txBody>
          <a:bodyPr anchor="t" rtlCol="false" tIns="0" lIns="0" bIns="0" rIns="0">
            <a:spAutoFit/>
          </a:bodyPr>
          <a:lstStyle/>
          <a:p>
            <a:pPr algn="just">
              <a:lnSpc>
                <a:spcPts val="3500"/>
              </a:lnSpc>
            </a:pPr>
            <a:r>
              <a:rPr lang="en-US" sz="2500" b="true">
                <a:solidFill>
                  <a:srgbClr val="56453F"/>
                </a:solidFill>
                <a:latin typeface="Poppins Semi-Bold"/>
                <a:ea typeface="Poppins Semi-Bold"/>
                <a:cs typeface="Poppins Semi-Bold"/>
                <a:sym typeface="Poppins Semi-Bold"/>
              </a:rPr>
              <a:t>アイデアが尊重され、声が届く組織、</a:t>
            </a:r>
          </a:p>
          <a:p>
            <a:pPr algn="just">
              <a:lnSpc>
                <a:spcPts val="3500"/>
              </a:lnSpc>
              <a:spcBef>
                <a:spcPct val="0"/>
              </a:spcBef>
            </a:pPr>
            <a:r>
              <a:rPr lang="en-US" b="true" sz="2500">
                <a:solidFill>
                  <a:srgbClr val="56453F"/>
                </a:solidFill>
                <a:latin typeface="Poppins Semi-Bold"/>
                <a:ea typeface="Poppins Semi-Bold"/>
                <a:cs typeface="Poppins Semi-Bold"/>
                <a:sym typeface="Poppins Semi-Bold"/>
              </a:rPr>
              <a:t>コード</a:t>
            </a:r>
            <a:r>
              <a:rPr lang="en-US" b="true" sz="2500">
                <a:solidFill>
                  <a:srgbClr val="56453F"/>
                </a:solidFill>
                <a:latin typeface="Poppins Semi-Bold"/>
                <a:ea typeface="Poppins Semi-Bold"/>
                <a:cs typeface="Poppins Semi-Bold"/>
                <a:sym typeface="Poppins Semi-Bold"/>
              </a:rPr>
              <a:t>を超えて、人と人との絆を生み出します。</a:t>
            </a:r>
          </a:p>
        </p:txBody>
      </p:sp>
      <p:grpSp>
        <p:nvGrpSpPr>
          <p:cNvPr name="Group 8" id="8"/>
          <p:cNvGrpSpPr/>
          <p:nvPr/>
        </p:nvGrpSpPr>
        <p:grpSpPr>
          <a:xfrm rot="0">
            <a:off x="-378744" y="9258300"/>
            <a:ext cx="19765101" cy="1410694"/>
            <a:chOff x="0" y="0"/>
            <a:chExt cx="5205623" cy="371541"/>
          </a:xfrm>
        </p:grpSpPr>
        <p:sp>
          <p:nvSpPr>
            <p:cNvPr name="Freeform 9" id="9"/>
            <p:cNvSpPr/>
            <p:nvPr/>
          </p:nvSpPr>
          <p:spPr>
            <a:xfrm flipH="false" flipV="false" rot="0">
              <a:off x="0" y="0"/>
              <a:ext cx="5205623" cy="371541"/>
            </a:xfrm>
            <a:custGeom>
              <a:avLst/>
              <a:gdLst/>
              <a:ahLst/>
              <a:cxnLst/>
              <a:rect r="r" b="b" t="t" l="l"/>
              <a:pathLst>
                <a:path h="371541" w="5205623">
                  <a:moveTo>
                    <a:pt x="19977" y="0"/>
                  </a:moveTo>
                  <a:lnTo>
                    <a:pt x="5185647" y="0"/>
                  </a:lnTo>
                  <a:cubicBezTo>
                    <a:pt x="5196680" y="0"/>
                    <a:pt x="5205623" y="8944"/>
                    <a:pt x="5205623" y="19977"/>
                  </a:cubicBezTo>
                  <a:lnTo>
                    <a:pt x="5205623" y="351564"/>
                  </a:lnTo>
                  <a:cubicBezTo>
                    <a:pt x="5205623" y="356862"/>
                    <a:pt x="5203519" y="361943"/>
                    <a:pt x="5199773" y="365690"/>
                  </a:cubicBezTo>
                  <a:cubicBezTo>
                    <a:pt x="5196026" y="369436"/>
                    <a:pt x="5190945" y="371541"/>
                    <a:pt x="5185647" y="371541"/>
                  </a:cubicBezTo>
                  <a:lnTo>
                    <a:pt x="19977" y="371541"/>
                  </a:lnTo>
                  <a:cubicBezTo>
                    <a:pt x="14678" y="371541"/>
                    <a:pt x="9597" y="369436"/>
                    <a:pt x="5851" y="365690"/>
                  </a:cubicBezTo>
                  <a:cubicBezTo>
                    <a:pt x="2105" y="361943"/>
                    <a:pt x="0" y="356862"/>
                    <a:pt x="0" y="351564"/>
                  </a:cubicBezTo>
                  <a:lnTo>
                    <a:pt x="0" y="19977"/>
                  </a:lnTo>
                  <a:cubicBezTo>
                    <a:pt x="0" y="14678"/>
                    <a:pt x="2105" y="9597"/>
                    <a:pt x="5851" y="5851"/>
                  </a:cubicBezTo>
                  <a:cubicBezTo>
                    <a:pt x="9597" y="2105"/>
                    <a:pt x="14678" y="0"/>
                    <a:pt x="19977" y="0"/>
                  </a:cubicBezTo>
                  <a:close/>
                </a:path>
              </a:pathLst>
            </a:custGeom>
            <a:solidFill>
              <a:srgbClr val="56453F"/>
            </a:solidFill>
          </p:spPr>
        </p:sp>
        <p:sp>
          <p:nvSpPr>
            <p:cNvPr name="TextBox 10" id="10"/>
            <p:cNvSpPr txBox="true"/>
            <p:nvPr/>
          </p:nvSpPr>
          <p:spPr>
            <a:xfrm>
              <a:off x="0" y="-38100"/>
              <a:ext cx="5205623" cy="409641"/>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true" flipV="true" rot="0">
            <a:off x="-823904" y="-322040"/>
            <a:ext cx="4239133" cy="2686551"/>
          </a:xfrm>
          <a:custGeom>
            <a:avLst/>
            <a:gdLst/>
            <a:ahLst/>
            <a:cxnLst/>
            <a:rect r="r" b="b" t="t" l="l"/>
            <a:pathLst>
              <a:path h="2686551" w="4239133">
                <a:moveTo>
                  <a:pt x="4239133" y="2686550"/>
                </a:moveTo>
                <a:lnTo>
                  <a:pt x="0" y="2686550"/>
                </a:lnTo>
                <a:lnTo>
                  <a:pt x="0" y="0"/>
                </a:lnTo>
                <a:lnTo>
                  <a:pt x="4239133" y="0"/>
                </a:lnTo>
                <a:lnTo>
                  <a:pt x="4239133" y="268655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7EED3"/>
        </a:solidFill>
      </p:bgPr>
    </p:bg>
    <p:spTree>
      <p:nvGrpSpPr>
        <p:cNvPr id="1" name=""/>
        <p:cNvGrpSpPr/>
        <p:nvPr/>
      </p:nvGrpSpPr>
      <p:grpSpPr>
        <a:xfrm>
          <a:off x="0" y="0"/>
          <a:ext cx="0" cy="0"/>
          <a:chOff x="0" y="0"/>
          <a:chExt cx="0" cy="0"/>
        </a:xfrm>
      </p:grpSpPr>
      <p:grpSp>
        <p:nvGrpSpPr>
          <p:cNvPr name="Group 2" id="2"/>
          <p:cNvGrpSpPr/>
          <p:nvPr/>
        </p:nvGrpSpPr>
        <p:grpSpPr>
          <a:xfrm rot="0">
            <a:off x="1397416" y="5746003"/>
            <a:ext cx="15493168" cy="3512297"/>
            <a:chOff x="0" y="0"/>
            <a:chExt cx="2400297" cy="544147"/>
          </a:xfrm>
        </p:grpSpPr>
        <p:sp>
          <p:nvSpPr>
            <p:cNvPr name="Freeform 3" id="3"/>
            <p:cNvSpPr/>
            <p:nvPr/>
          </p:nvSpPr>
          <p:spPr>
            <a:xfrm flipH="false" flipV="false" rot="0">
              <a:off x="0" y="0"/>
              <a:ext cx="2400297" cy="544147"/>
            </a:xfrm>
            <a:custGeom>
              <a:avLst/>
              <a:gdLst/>
              <a:ahLst/>
              <a:cxnLst/>
              <a:rect r="r" b="b" t="t" l="l"/>
              <a:pathLst>
                <a:path h="544147" w="2400297">
                  <a:moveTo>
                    <a:pt x="32480" y="0"/>
                  </a:moveTo>
                  <a:lnTo>
                    <a:pt x="2367817" y="0"/>
                  </a:lnTo>
                  <a:cubicBezTo>
                    <a:pt x="2376431" y="0"/>
                    <a:pt x="2384693" y="3422"/>
                    <a:pt x="2390784" y="9513"/>
                  </a:cubicBezTo>
                  <a:cubicBezTo>
                    <a:pt x="2396875" y="15605"/>
                    <a:pt x="2400297" y="23866"/>
                    <a:pt x="2400297" y="32480"/>
                  </a:cubicBezTo>
                  <a:lnTo>
                    <a:pt x="2400297" y="511666"/>
                  </a:lnTo>
                  <a:cubicBezTo>
                    <a:pt x="2400297" y="520281"/>
                    <a:pt x="2396875" y="528542"/>
                    <a:pt x="2390784" y="534633"/>
                  </a:cubicBezTo>
                  <a:cubicBezTo>
                    <a:pt x="2384693" y="540725"/>
                    <a:pt x="2376431" y="544147"/>
                    <a:pt x="2367817" y="544147"/>
                  </a:cubicBezTo>
                  <a:lnTo>
                    <a:pt x="32480" y="544147"/>
                  </a:lnTo>
                  <a:cubicBezTo>
                    <a:pt x="23866" y="544147"/>
                    <a:pt x="15605" y="540725"/>
                    <a:pt x="9513" y="534633"/>
                  </a:cubicBezTo>
                  <a:cubicBezTo>
                    <a:pt x="3422" y="528542"/>
                    <a:pt x="0" y="520281"/>
                    <a:pt x="0" y="511666"/>
                  </a:cubicBezTo>
                  <a:lnTo>
                    <a:pt x="0" y="32480"/>
                  </a:lnTo>
                  <a:cubicBezTo>
                    <a:pt x="0" y="23866"/>
                    <a:pt x="3422" y="15605"/>
                    <a:pt x="9513" y="9513"/>
                  </a:cubicBezTo>
                  <a:cubicBezTo>
                    <a:pt x="15605" y="3422"/>
                    <a:pt x="23866" y="0"/>
                    <a:pt x="32480" y="0"/>
                  </a:cubicBezTo>
                  <a:close/>
                </a:path>
              </a:pathLst>
            </a:custGeom>
            <a:blipFill>
              <a:blip r:embed="rId2"/>
              <a:stretch>
                <a:fillRect l="0" t="-101627" r="0" b="-92263"/>
              </a:stretch>
            </a:blipFill>
            <a:ln w="66675" cap="rnd">
              <a:solidFill>
                <a:srgbClr val="C84C11"/>
              </a:solidFill>
              <a:prstDash val="solid"/>
              <a:round/>
            </a:ln>
          </p:spPr>
        </p:sp>
      </p:grpSp>
      <p:grpSp>
        <p:nvGrpSpPr>
          <p:cNvPr name="Group 4" id="4"/>
          <p:cNvGrpSpPr/>
          <p:nvPr/>
        </p:nvGrpSpPr>
        <p:grpSpPr>
          <a:xfrm rot="0">
            <a:off x="4031991" y="1501891"/>
            <a:ext cx="10224018" cy="1517651"/>
            <a:chOff x="0" y="0"/>
            <a:chExt cx="13632024" cy="2023535"/>
          </a:xfrm>
        </p:grpSpPr>
        <p:sp>
          <p:nvSpPr>
            <p:cNvPr name="TextBox 5" id="5"/>
            <p:cNvSpPr txBox="true"/>
            <p:nvPr/>
          </p:nvSpPr>
          <p:spPr>
            <a:xfrm rot="0">
              <a:off x="0" y="28575"/>
              <a:ext cx="13632024" cy="1495427"/>
            </a:xfrm>
            <a:prstGeom prst="rect">
              <a:avLst/>
            </a:prstGeom>
          </p:spPr>
          <p:txBody>
            <a:bodyPr anchor="t" rtlCol="false" tIns="0" lIns="0" bIns="0" rIns="0">
              <a:spAutoFit/>
            </a:bodyPr>
            <a:lstStyle/>
            <a:p>
              <a:pPr algn="ctr">
                <a:lnSpc>
                  <a:spcPts val="8625"/>
                </a:lnSpc>
              </a:pPr>
              <a:r>
                <a:rPr lang="en-US" b="true" sz="7500">
                  <a:solidFill>
                    <a:srgbClr val="56453F"/>
                  </a:solidFill>
                  <a:latin typeface="Signika Bold"/>
                  <a:ea typeface="Signika Bold"/>
                  <a:cs typeface="Signika Bold"/>
                  <a:sym typeface="Signika Bold"/>
                </a:rPr>
                <a:t>WHAT IS AIPET?</a:t>
              </a:r>
            </a:p>
          </p:txBody>
        </p:sp>
        <p:sp>
          <p:nvSpPr>
            <p:cNvPr name="TextBox 6" id="6"/>
            <p:cNvSpPr txBox="true"/>
            <p:nvPr/>
          </p:nvSpPr>
          <p:spPr>
            <a:xfrm rot="0">
              <a:off x="2836525" y="1447802"/>
              <a:ext cx="7958974" cy="575733"/>
            </a:xfrm>
            <a:prstGeom prst="rect">
              <a:avLst/>
            </a:prstGeom>
          </p:spPr>
          <p:txBody>
            <a:bodyPr anchor="t" rtlCol="false" tIns="0" lIns="0" bIns="0" rIns="0">
              <a:spAutoFit/>
            </a:bodyPr>
            <a:lstStyle/>
            <a:p>
              <a:pPr algn="just">
                <a:lnSpc>
                  <a:spcPts val="3500"/>
                </a:lnSpc>
                <a:spcBef>
                  <a:spcPct val="0"/>
                </a:spcBef>
              </a:pPr>
              <a:r>
                <a:rPr lang="en-US" b="true" sz="2500">
                  <a:solidFill>
                    <a:srgbClr val="A47764"/>
                  </a:solidFill>
                  <a:latin typeface="Poppins Semi-Bold"/>
                  <a:ea typeface="Poppins Semi-Bold"/>
                  <a:cs typeface="Poppins Semi-Bold"/>
                  <a:sym typeface="Poppins Semi-Bold"/>
                </a:rPr>
                <a:t>記録から信頼へ、T</a:t>
              </a:r>
              <a:r>
                <a:rPr lang="en-US" b="true" sz="2500">
                  <a:solidFill>
                    <a:srgbClr val="A47764"/>
                  </a:solidFill>
                  <a:latin typeface="Poppins Semi-Bold"/>
                  <a:ea typeface="Poppins Semi-Bold"/>
                  <a:cs typeface="Poppins Semi-Bold"/>
                  <a:sym typeface="Poppins Semi-Bold"/>
                </a:rPr>
                <a:t>echnologyから絆へ</a:t>
              </a:r>
            </a:p>
          </p:txBody>
        </p:sp>
      </p:grpSp>
      <p:sp>
        <p:nvSpPr>
          <p:cNvPr name="Freeform 7" id="7"/>
          <p:cNvSpPr/>
          <p:nvPr/>
        </p:nvSpPr>
        <p:spPr>
          <a:xfrm flipH="false" flipV="false" rot="0">
            <a:off x="885905" y="1917509"/>
            <a:ext cx="2875031" cy="686414"/>
          </a:xfrm>
          <a:custGeom>
            <a:avLst/>
            <a:gdLst/>
            <a:ahLst/>
            <a:cxnLst/>
            <a:rect r="r" b="b" t="t" l="l"/>
            <a:pathLst>
              <a:path h="686414" w="2875031">
                <a:moveTo>
                  <a:pt x="0" y="0"/>
                </a:moveTo>
                <a:lnTo>
                  <a:pt x="2875031" y="0"/>
                </a:lnTo>
                <a:lnTo>
                  <a:pt x="2875031" y="686414"/>
                </a:lnTo>
                <a:lnTo>
                  <a:pt x="0" y="68641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14384269" y="1917509"/>
            <a:ext cx="2875031" cy="686414"/>
          </a:xfrm>
          <a:custGeom>
            <a:avLst/>
            <a:gdLst/>
            <a:ahLst/>
            <a:cxnLst/>
            <a:rect r="r" b="b" t="t" l="l"/>
            <a:pathLst>
              <a:path h="686414" w="2875031">
                <a:moveTo>
                  <a:pt x="0" y="0"/>
                </a:moveTo>
                <a:lnTo>
                  <a:pt x="2875031" y="0"/>
                </a:lnTo>
                <a:lnTo>
                  <a:pt x="2875031" y="686414"/>
                </a:lnTo>
                <a:lnTo>
                  <a:pt x="0" y="68641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9" id="9"/>
          <p:cNvSpPr txBox="true"/>
          <p:nvPr/>
        </p:nvSpPr>
        <p:spPr>
          <a:xfrm rot="0">
            <a:off x="1859344" y="3271523"/>
            <a:ext cx="14870237" cy="1736724"/>
          </a:xfrm>
          <a:prstGeom prst="rect">
            <a:avLst/>
          </a:prstGeom>
        </p:spPr>
        <p:txBody>
          <a:bodyPr anchor="t" rtlCol="false" tIns="0" lIns="0" bIns="0" rIns="0">
            <a:spAutoFit/>
          </a:bodyPr>
          <a:lstStyle/>
          <a:p>
            <a:pPr algn="ctr" marL="0" indent="0" lvl="0">
              <a:lnSpc>
                <a:spcPts val="3500"/>
              </a:lnSpc>
            </a:pPr>
            <a:r>
              <a:rPr lang="en-US" sz="2500">
                <a:solidFill>
                  <a:srgbClr val="56453F"/>
                </a:solidFill>
                <a:latin typeface="Noto Sans Kr"/>
                <a:ea typeface="Noto Sans Kr"/>
                <a:cs typeface="Noto Sans Kr"/>
                <a:sym typeface="Noto Sans Kr"/>
              </a:rPr>
              <a:t>AIPetは、単なる管理アプリにとどまらず、</a:t>
            </a:r>
          </a:p>
          <a:p>
            <a:pPr algn="ctr" marL="0" indent="0" lvl="0">
              <a:lnSpc>
                <a:spcPts val="3500"/>
              </a:lnSpc>
            </a:pPr>
            <a:r>
              <a:rPr lang="en-US" sz="2500">
                <a:solidFill>
                  <a:srgbClr val="56453F"/>
                </a:solidFill>
                <a:latin typeface="Noto Sans Kr"/>
                <a:ea typeface="Noto Sans Kr"/>
                <a:cs typeface="Noto Sans Kr"/>
                <a:sym typeface="Noto Sans Kr"/>
              </a:rPr>
              <a:t>散歩や食事、健康記録から予約、</a:t>
            </a:r>
          </a:p>
          <a:p>
            <a:pPr algn="ctr" marL="0" indent="0" lvl="0">
              <a:lnSpc>
                <a:spcPts val="3500"/>
              </a:lnSpc>
            </a:pPr>
            <a:r>
              <a:rPr lang="en-US" sz="2500">
                <a:solidFill>
                  <a:srgbClr val="56453F"/>
                </a:solidFill>
                <a:latin typeface="Noto Sans Kr"/>
                <a:ea typeface="Noto Sans Kr"/>
                <a:cs typeface="Noto Sans Kr"/>
                <a:sym typeface="Noto Sans Kr"/>
              </a:rPr>
              <a:t>さらにはAIによる分析までを網羅したオールインワンプラットフォームです。</a:t>
            </a:r>
          </a:p>
          <a:p>
            <a:pPr algn="ctr">
              <a:lnSpc>
                <a:spcPts val="3500"/>
              </a:lnSpc>
            </a:pPr>
            <a:r>
              <a:rPr lang="en-US" sz="2500">
                <a:solidFill>
                  <a:srgbClr val="56453F"/>
                </a:solidFill>
                <a:latin typeface="Noto Sans Kr"/>
                <a:ea typeface="Noto Sans Kr"/>
                <a:cs typeface="Noto Sans Kr"/>
                <a:sym typeface="Noto Sans Kr"/>
              </a:rPr>
              <a:t>技術を駆使してペットとの生活をより豊かにし、信頼と絆を育む新たなペットライフ体験を提供します。</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7EED3"/>
        </a:solidFill>
      </p:bgPr>
    </p:bg>
    <p:spTree>
      <p:nvGrpSpPr>
        <p:cNvPr id="1" name=""/>
        <p:cNvGrpSpPr/>
        <p:nvPr/>
      </p:nvGrpSpPr>
      <p:grpSpPr>
        <a:xfrm>
          <a:off x="0" y="0"/>
          <a:ext cx="0" cy="0"/>
          <a:chOff x="0" y="0"/>
          <a:chExt cx="0" cy="0"/>
        </a:xfrm>
      </p:grpSpPr>
      <p:sp>
        <p:nvSpPr>
          <p:cNvPr name="Freeform 2" id="2"/>
          <p:cNvSpPr/>
          <p:nvPr/>
        </p:nvSpPr>
        <p:spPr>
          <a:xfrm flipH="false" flipV="false" rot="0">
            <a:off x="14876636" y="6557121"/>
            <a:ext cx="2875031" cy="686414"/>
          </a:xfrm>
          <a:custGeom>
            <a:avLst/>
            <a:gdLst/>
            <a:ahLst/>
            <a:cxnLst/>
            <a:rect r="r" b="b" t="t" l="l"/>
            <a:pathLst>
              <a:path h="686414" w="2875031">
                <a:moveTo>
                  <a:pt x="0" y="0"/>
                </a:moveTo>
                <a:lnTo>
                  <a:pt x="2875031" y="0"/>
                </a:lnTo>
                <a:lnTo>
                  <a:pt x="2875031" y="686414"/>
                </a:lnTo>
                <a:lnTo>
                  <a:pt x="0" y="6864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7433540" y="6213914"/>
            <a:ext cx="2875031" cy="686414"/>
          </a:xfrm>
          <a:custGeom>
            <a:avLst/>
            <a:gdLst/>
            <a:ahLst/>
            <a:cxnLst/>
            <a:rect r="r" b="b" t="t" l="l"/>
            <a:pathLst>
              <a:path h="686414" w="2875031">
                <a:moveTo>
                  <a:pt x="0" y="0"/>
                </a:moveTo>
                <a:lnTo>
                  <a:pt x="2875030" y="0"/>
                </a:lnTo>
                <a:lnTo>
                  <a:pt x="2875030" y="686414"/>
                </a:lnTo>
                <a:lnTo>
                  <a:pt x="0" y="6864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9637370" y="4177018"/>
            <a:ext cx="6314543" cy="5081282"/>
            <a:chOff x="83820" y="1018540"/>
            <a:chExt cx="13037820" cy="10491470"/>
          </a:xfrm>
        </p:grpSpPr>
        <p:sp>
          <p:nvSpPr>
            <p:cNvPr name="Freeform 5" id="5"/>
            <p:cNvSpPr/>
            <p:nvPr/>
          </p:nvSpPr>
          <p:spPr>
            <a:xfrm flipH="false" flipV="false" rot="0">
              <a:off x="0" y="0"/>
              <a:ext cx="13037820" cy="10491470"/>
            </a:xfrm>
            <a:custGeom>
              <a:avLst/>
              <a:gdLst/>
              <a:ahLst/>
              <a:cxnLst/>
              <a:rect r="r" b="b" t="t" l="l"/>
              <a:pathLst>
                <a:path h="10491470" w="13037820">
                  <a:moveTo>
                    <a:pt x="3798570" y="791210"/>
                  </a:moveTo>
                  <a:cubicBezTo>
                    <a:pt x="1548130" y="1852930"/>
                    <a:pt x="0" y="3540760"/>
                    <a:pt x="110490" y="6107430"/>
                  </a:cubicBezTo>
                  <a:cubicBezTo>
                    <a:pt x="134620" y="6667500"/>
                    <a:pt x="254000" y="7228840"/>
                    <a:pt x="515620" y="7724140"/>
                  </a:cubicBezTo>
                  <a:cubicBezTo>
                    <a:pt x="1178560" y="8980170"/>
                    <a:pt x="2620010" y="9602470"/>
                    <a:pt x="3995420" y="9954260"/>
                  </a:cubicBezTo>
                  <a:cubicBezTo>
                    <a:pt x="5419090" y="10318750"/>
                    <a:pt x="6921500" y="10491470"/>
                    <a:pt x="8359140" y="10189210"/>
                  </a:cubicBezTo>
                  <a:cubicBezTo>
                    <a:pt x="9796780" y="9885680"/>
                    <a:pt x="11168380" y="9057640"/>
                    <a:pt x="11893550" y="7780020"/>
                  </a:cubicBezTo>
                  <a:cubicBezTo>
                    <a:pt x="13037820" y="5765800"/>
                    <a:pt x="12245340" y="2998470"/>
                    <a:pt x="10411460" y="1581150"/>
                  </a:cubicBezTo>
                  <a:cubicBezTo>
                    <a:pt x="8577580" y="163830"/>
                    <a:pt x="5976620" y="0"/>
                    <a:pt x="3798570" y="791210"/>
                  </a:cubicBezTo>
                </a:path>
              </a:pathLst>
            </a:custGeom>
            <a:blipFill>
              <a:blip r:embed="rId4"/>
              <a:stretch>
                <a:fillRect l="-11060" t="0" r="-11060" b="0"/>
              </a:stretch>
            </a:blipFill>
            <a:ln w="66675" cap="sq">
              <a:solidFill>
                <a:srgbClr val="C84C11"/>
              </a:solidFill>
              <a:prstDash val="solid"/>
              <a:miter/>
            </a:ln>
          </p:spPr>
        </p:sp>
      </p:grpSp>
      <p:grpSp>
        <p:nvGrpSpPr>
          <p:cNvPr name="Group 6" id="6"/>
          <p:cNvGrpSpPr/>
          <p:nvPr/>
        </p:nvGrpSpPr>
        <p:grpSpPr>
          <a:xfrm rot="0">
            <a:off x="1387641" y="1278969"/>
            <a:ext cx="6889073" cy="7746081"/>
            <a:chOff x="0" y="0"/>
            <a:chExt cx="1814406" cy="2040120"/>
          </a:xfrm>
        </p:grpSpPr>
        <p:sp>
          <p:nvSpPr>
            <p:cNvPr name="Freeform 7" id="7"/>
            <p:cNvSpPr/>
            <p:nvPr/>
          </p:nvSpPr>
          <p:spPr>
            <a:xfrm flipH="false" flipV="false" rot="0">
              <a:off x="0" y="0"/>
              <a:ext cx="1814406" cy="2040120"/>
            </a:xfrm>
            <a:custGeom>
              <a:avLst/>
              <a:gdLst/>
              <a:ahLst/>
              <a:cxnLst/>
              <a:rect r="r" b="b" t="t" l="l"/>
              <a:pathLst>
                <a:path h="2040120" w="1814406">
                  <a:moveTo>
                    <a:pt x="67428" y="0"/>
                  </a:moveTo>
                  <a:lnTo>
                    <a:pt x="1746978" y="0"/>
                  </a:lnTo>
                  <a:cubicBezTo>
                    <a:pt x="1784218" y="0"/>
                    <a:pt x="1814406" y="30188"/>
                    <a:pt x="1814406" y="67428"/>
                  </a:cubicBezTo>
                  <a:lnTo>
                    <a:pt x="1814406" y="1972692"/>
                  </a:lnTo>
                  <a:cubicBezTo>
                    <a:pt x="1814406" y="2009932"/>
                    <a:pt x="1784218" y="2040120"/>
                    <a:pt x="1746978" y="2040120"/>
                  </a:cubicBezTo>
                  <a:lnTo>
                    <a:pt x="67428" y="2040120"/>
                  </a:lnTo>
                  <a:cubicBezTo>
                    <a:pt x="30188" y="2040120"/>
                    <a:pt x="0" y="2009932"/>
                    <a:pt x="0" y="1972692"/>
                  </a:cubicBezTo>
                  <a:lnTo>
                    <a:pt x="0" y="67428"/>
                  </a:lnTo>
                  <a:cubicBezTo>
                    <a:pt x="0" y="30188"/>
                    <a:pt x="30188" y="0"/>
                    <a:pt x="67428" y="0"/>
                  </a:cubicBezTo>
                  <a:close/>
                </a:path>
              </a:pathLst>
            </a:custGeom>
            <a:solidFill>
              <a:srgbClr val="A47764"/>
            </a:solidFill>
          </p:spPr>
        </p:sp>
        <p:sp>
          <p:nvSpPr>
            <p:cNvPr name="TextBox 8" id="8"/>
            <p:cNvSpPr txBox="true"/>
            <p:nvPr/>
          </p:nvSpPr>
          <p:spPr>
            <a:xfrm>
              <a:off x="0" y="-38100"/>
              <a:ext cx="1814406" cy="2078220"/>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9791073" y="1677843"/>
            <a:ext cx="5724726" cy="2209801"/>
          </a:xfrm>
          <a:prstGeom prst="rect">
            <a:avLst/>
          </a:prstGeom>
        </p:spPr>
        <p:txBody>
          <a:bodyPr anchor="t" rtlCol="false" tIns="0" lIns="0" bIns="0" rIns="0">
            <a:spAutoFit/>
          </a:bodyPr>
          <a:lstStyle/>
          <a:p>
            <a:pPr algn="l">
              <a:lnSpc>
                <a:spcPts val="8625"/>
              </a:lnSpc>
            </a:pPr>
            <a:r>
              <a:rPr lang="en-US" sz="7500" b="true">
                <a:solidFill>
                  <a:srgbClr val="C84C11"/>
                </a:solidFill>
                <a:latin typeface="Signika Bold"/>
                <a:ea typeface="Signika Bold"/>
                <a:cs typeface="Signika Bold"/>
                <a:sym typeface="Signika Bold"/>
              </a:rPr>
              <a:t>SERVICES AVAILABLE</a:t>
            </a:r>
          </a:p>
        </p:txBody>
      </p:sp>
      <p:sp>
        <p:nvSpPr>
          <p:cNvPr name="TextBox 10" id="10"/>
          <p:cNvSpPr txBox="true"/>
          <p:nvPr/>
        </p:nvSpPr>
        <p:spPr>
          <a:xfrm rot="0">
            <a:off x="2230817" y="1573068"/>
            <a:ext cx="5202723" cy="7614919"/>
          </a:xfrm>
          <a:prstGeom prst="rect">
            <a:avLst/>
          </a:prstGeom>
        </p:spPr>
        <p:txBody>
          <a:bodyPr anchor="t" rtlCol="false" tIns="0" lIns="0" bIns="0" rIns="0">
            <a:spAutoFit/>
          </a:bodyPr>
          <a:lstStyle/>
          <a:p>
            <a:pPr algn="just">
              <a:lnSpc>
                <a:spcPts val="3500"/>
              </a:lnSpc>
            </a:pPr>
            <a:r>
              <a:rPr lang="en-US" sz="2500" b="true">
                <a:solidFill>
                  <a:srgbClr val="FFFFFF"/>
                </a:solidFill>
                <a:latin typeface="Poppins Bold"/>
                <a:ea typeface="Poppins Bold"/>
                <a:cs typeface="Poppins Bold"/>
                <a:sym typeface="Poppins Bold"/>
              </a:rPr>
              <a:t>AIPetは、ペットと飼い主の日常を支えるオールインワン・ペットケアプラットフォームです。</a:t>
            </a:r>
          </a:p>
          <a:p>
            <a:pPr algn="just">
              <a:lnSpc>
                <a:spcPts val="3360"/>
              </a:lnSpc>
            </a:pPr>
          </a:p>
          <a:p>
            <a:pPr algn="just">
              <a:lnSpc>
                <a:spcPts val="3360"/>
              </a:lnSpc>
            </a:pPr>
            <a:r>
              <a:rPr lang="en-US" sz="2400" b="true">
                <a:solidFill>
                  <a:srgbClr val="FFFFFF"/>
                </a:solidFill>
                <a:latin typeface="Poppins Medium"/>
                <a:ea typeface="Poppins Medium"/>
                <a:cs typeface="Poppins Medium"/>
                <a:sym typeface="Poppins Medium"/>
              </a:rPr>
              <a:t>散歩・食事・体重などの日常記録から、病院・トリミングの予約や定期スケジュール管理まで幅広く対応します。さらに、ワクチン・投薬管理やAIによる健康分析機能を通じて、最適なケアを提案します。</a:t>
            </a:r>
          </a:p>
          <a:p>
            <a:pPr algn="just">
              <a:lnSpc>
                <a:spcPts val="3360"/>
              </a:lnSpc>
            </a:pPr>
          </a:p>
          <a:p>
            <a:pPr algn="just">
              <a:lnSpc>
                <a:spcPts val="3360"/>
              </a:lnSpc>
            </a:pPr>
            <a:r>
              <a:rPr lang="en-US" sz="2400" b="true">
                <a:solidFill>
                  <a:srgbClr val="FFFFFF"/>
                </a:solidFill>
                <a:latin typeface="Poppins Medium"/>
                <a:ea typeface="Poppins Medium"/>
                <a:cs typeface="Poppins Medium"/>
                <a:sym typeface="Poppins Medium"/>
              </a:rPr>
              <a:t>リアルタイムの天気・環境データを活用し、安全で快適な散歩をサポートします。これらの機能により、飼い主はペットの生活を効率的に管理でき、同時に信頼と絆をさらに深めることができます。</a:t>
            </a:r>
          </a:p>
          <a:p>
            <a:pPr algn="just">
              <a:lnSpc>
                <a:spcPts val="3360"/>
              </a:lnSpc>
              <a:spcBef>
                <a:spcPct val="0"/>
              </a:spcBef>
            </a:pPr>
          </a:p>
        </p:txBody>
      </p:sp>
      <p:grpSp>
        <p:nvGrpSpPr>
          <p:cNvPr name="Group 11" id="11"/>
          <p:cNvGrpSpPr/>
          <p:nvPr/>
        </p:nvGrpSpPr>
        <p:grpSpPr>
          <a:xfrm rot="0">
            <a:off x="17259300" y="-448007"/>
            <a:ext cx="2127057" cy="11117001"/>
            <a:chOff x="0" y="0"/>
            <a:chExt cx="560213" cy="2927934"/>
          </a:xfrm>
        </p:grpSpPr>
        <p:sp>
          <p:nvSpPr>
            <p:cNvPr name="Freeform 12" id="12"/>
            <p:cNvSpPr/>
            <p:nvPr/>
          </p:nvSpPr>
          <p:spPr>
            <a:xfrm flipH="false" flipV="false" rot="0">
              <a:off x="0" y="0"/>
              <a:ext cx="560213" cy="2927934"/>
            </a:xfrm>
            <a:custGeom>
              <a:avLst/>
              <a:gdLst/>
              <a:ahLst/>
              <a:cxnLst/>
              <a:rect r="r" b="b" t="t" l="l"/>
              <a:pathLst>
                <a:path h="2927934" w="560213">
                  <a:moveTo>
                    <a:pt x="185626" y="0"/>
                  </a:moveTo>
                  <a:lnTo>
                    <a:pt x="374586" y="0"/>
                  </a:lnTo>
                  <a:cubicBezTo>
                    <a:pt x="477105" y="0"/>
                    <a:pt x="560213" y="83108"/>
                    <a:pt x="560213" y="185626"/>
                  </a:cubicBezTo>
                  <a:lnTo>
                    <a:pt x="560213" y="2742308"/>
                  </a:lnTo>
                  <a:cubicBezTo>
                    <a:pt x="560213" y="2844827"/>
                    <a:pt x="477105" y="2927934"/>
                    <a:pt x="374586" y="2927934"/>
                  </a:cubicBezTo>
                  <a:lnTo>
                    <a:pt x="185626" y="2927934"/>
                  </a:lnTo>
                  <a:cubicBezTo>
                    <a:pt x="83108" y="2927934"/>
                    <a:pt x="0" y="2844827"/>
                    <a:pt x="0" y="2742308"/>
                  </a:cubicBezTo>
                  <a:lnTo>
                    <a:pt x="0" y="185626"/>
                  </a:lnTo>
                  <a:cubicBezTo>
                    <a:pt x="0" y="83108"/>
                    <a:pt x="83108" y="0"/>
                    <a:pt x="185626" y="0"/>
                  </a:cubicBezTo>
                  <a:close/>
                </a:path>
              </a:pathLst>
            </a:custGeom>
            <a:solidFill>
              <a:srgbClr val="D19C97"/>
            </a:solidFill>
          </p:spPr>
        </p:sp>
        <p:sp>
          <p:nvSpPr>
            <p:cNvPr name="TextBox 13" id="13"/>
            <p:cNvSpPr txBox="true"/>
            <p:nvPr/>
          </p:nvSpPr>
          <p:spPr>
            <a:xfrm>
              <a:off x="0" y="-38100"/>
              <a:ext cx="560213" cy="2966034"/>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7EED3"/>
        </a:solidFill>
      </p:bgPr>
    </p:bg>
    <p:spTree>
      <p:nvGrpSpPr>
        <p:cNvPr id="1" name=""/>
        <p:cNvGrpSpPr/>
        <p:nvPr/>
      </p:nvGrpSpPr>
      <p:grpSpPr>
        <a:xfrm>
          <a:off x="0" y="0"/>
          <a:ext cx="0" cy="0"/>
          <a:chOff x="0" y="0"/>
          <a:chExt cx="0" cy="0"/>
        </a:xfrm>
      </p:grpSpPr>
      <p:grpSp>
        <p:nvGrpSpPr>
          <p:cNvPr name="Group 2" id="2"/>
          <p:cNvGrpSpPr/>
          <p:nvPr/>
        </p:nvGrpSpPr>
        <p:grpSpPr>
          <a:xfrm rot="0">
            <a:off x="1443606" y="3896849"/>
            <a:ext cx="4227384" cy="2945736"/>
            <a:chOff x="0" y="0"/>
            <a:chExt cx="1001206" cy="697663"/>
          </a:xfrm>
        </p:grpSpPr>
        <p:sp>
          <p:nvSpPr>
            <p:cNvPr name="Freeform 3" id="3"/>
            <p:cNvSpPr/>
            <p:nvPr/>
          </p:nvSpPr>
          <p:spPr>
            <a:xfrm flipH="false" flipV="false" rot="0">
              <a:off x="0" y="0"/>
              <a:ext cx="1001206" cy="697663"/>
            </a:xfrm>
            <a:custGeom>
              <a:avLst/>
              <a:gdLst/>
              <a:ahLst/>
              <a:cxnLst/>
              <a:rect r="r" b="b" t="t" l="l"/>
              <a:pathLst>
                <a:path h="697663" w="1001206">
                  <a:moveTo>
                    <a:pt x="119039" y="0"/>
                  </a:moveTo>
                  <a:lnTo>
                    <a:pt x="882167" y="0"/>
                  </a:lnTo>
                  <a:cubicBezTo>
                    <a:pt x="947911" y="0"/>
                    <a:pt x="1001206" y="53296"/>
                    <a:pt x="1001206" y="119039"/>
                  </a:cubicBezTo>
                  <a:lnTo>
                    <a:pt x="1001206" y="578624"/>
                  </a:lnTo>
                  <a:cubicBezTo>
                    <a:pt x="1001206" y="610195"/>
                    <a:pt x="988665" y="640473"/>
                    <a:pt x="966340" y="662797"/>
                  </a:cubicBezTo>
                  <a:cubicBezTo>
                    <a:pt x="944016" y="685121"/>
                    <a:pt x="913738" y="697663"/>
                    <a:pt x="882167" y="697663"/>
                  </a:cubicBezTo>
                  <a:lnTo>
                    <a:pt x="119039" y="697663"/>
                  </a:lnTo>
                  <a:cubicBezTo>
                    <a:pt x="87468" y="697663"/>
                    <a:pt x="57190" y="685121"/>
                    <a:pt x="34866" y="662797"/>
                  </a:cubicBezTo>
                  <a:cubicBezTo>
                    <a:pt x="12542" y="640473"/>
                    <a:pt x="0" y="610195"/>
                    <a:pt x="0" y="578624"/>
                  </a:cubicBezTo>
                  <a:lnTo>
                    <a:pt x="0" y="119039"/>
                  </a:lnTo>
                  <a:cubicBezTo>
                    <a:pt x="0" y="87468"/>
                    <a:pt x="12542" y="57190"/>
                    <a:pt x="34866" y="34866"/>
                  </a:cubicBezTo>
                  <a:cubicBezTo>
                    <a:pt x="57190" y="12542"/>
                    <a:pt x="87468" y="0"/>
                    <a:pt x="119039" y="0"/>
                  </a:cubicBezTo>
                  <a:close/>
                </a:path>
              </a:pathLst>
            </a:custGeom>
            <a:blipFill>
              <a:blip r:embed="rId2"/>
              <a:stretch>
                <a:fillRect l="0" t="-855" r="0" b="-855"/>
              </a:stretch>
            </a:blipFill>
            <a:ln w="66675" cap="rnd">
              <a:solidFill>
                <a:srgbClr val="C84C11"/>
              </a:solidFill>
              <a:prstDash val="solid"/>
              <a:round/>
            </a:ln>
          </p:spPr>
        </p:sp>
      </p:grpSp>
      <p:grpSp>
        <p:nvGrpSpPr>
          <p:cNvPr name="Group 4" id="4"/>
          <p:cNvGrpSpPr/>
          <p:nvPr/>
        </p:nvGrpSpPr>
        <p:grpSpPr>
          <a:xfrm rot="0">
            <a:off x="3817739" y="5369717"/>
            <a:ext cx="4227384" cy="2945736"/>
            <a:chOff x="0" y="0"/>
            <a:chExt cx="1001206" cy="697663"/>
          </a:xfrm>
        </p:grpSpPr>
        <p:sp>
          <p:nvSpPr>
            <p:cNvPr name="Freeform 5" id="5"/>
            <p:cNvSpPr/>
            <p:nvPr/>
          </p:nvSpPr>
          <p:spPr>
            <a:xfrm flipH="false" flipV="false" rot="0">
              <a:off x="0" y="0"/>
              <a:ext cx="1001206" cy="697663"/>
            </a:xfrm>
            <a:custGeom>
              <a:avLst/>
              <a:gdLst/>
              <a:ahLst/>
              <a:cxnLst/>
              <a:rect r="r" b="b" t="t" l="l"/>
              <a:pathLst>
                <a:path h="697663" w="1001206">
                  <a:moveTo>
                    <a:pt x="119039" y="0"/>
                  </a:moveTo>
                  <a:lnTo>
                    <a:pt x="882167" y="0"/>
                  </a:lnTo>
                  <a:cubicBezTo>
                    <a:pt x="947911" y="0"/>
                    <a:pt x="1001206" y="53296"/>
                    <a:pt x="1001206" y="119039"/>
                  </a:cubicBezTo>
                  <a:lnTo>
                    <a:pt x="1001206" y="578624"/>
                  </a:lnTo>
                  <a:cubicBezTo>
                    <a:pt x="1001206" y="610195"/>
                    <a:pt x="988665" y="640473"/>
                    <a:pt x="966340" y="662797"/>
                  </a:cubicBezTo>
                  <a:cubicBezTo>
                    <a:pt x="944016" y="685121"/>
                    <a:pt x="913738" y="697663"/>
                    <a:pt x="882167" y="697663"/>
                  </a:cubicBezTo>
                  <a:lnTo>
                    <a:pt x="119039" y="697663"/>
                  </a:lnTo>
                  <a:cubicBezTo>
                    <a:pt x="87468" y="697663"/>
                    <a:pt x="57190" y="685121"/>
                    <a:pt x="34866" y="662797"/>
                  </a:cubicBezTo>
                  <a:cubicBezTo>
                    <a:pt x="12542" y="640473"/>
                    <a:pt x="0" y="610195"/>
                    <a:pt x="0" y="578624"/>
                  </a:cubicBezTo>
                  <a:lnTo>
                    <a:pt x="0" y="119039"/>
                  </a:lnTo>
                  <a:cubicBezTo>
                    <a:pt x="0" y="87468"/>
                    <a:pt x="12542" y="57190"/>
                    <a:pt x="34866" y="34866"/>
                  </a:cubicBezTo>
                  <a:cubicBezTo>
                    <a:pt x="57190" y="12542"/>
                    <a:pt x="87468" y="0"/>
                    <a:pt x="119039" y="0"/>
                  </a:cubicBezTo>
                  <a:close/>
                </a:path>
              </a:pathLst>
            </a:custGeom>
            <a:blipFill>
              <a:blip r:embed="rId3"/>
              <a:stretch>
                <a:fillRect l="0" t="-4712" r="0" b="-4712"/>
              </a:stretch>
            </a:blipFill>
            <a:ln w="66675" cap="rnd">
              <a:solidFill>
                <a:srgbClr val="C84C11"/>
              </a:solidFill>
              <a:prstDash val="solid"/>
              <a:round/>
            </a:ln>
          </p:spPr>
        </p:sp>
      </p:grpSp>
      <p:sp>
        <p:nvSpPr>
          <p:cNvPr name="TextBox 6" id="6"/>
          <p:cNvSpPr txBox="true"/>
          <p:nvPr/>
        </p:nvSpPr>
        <p:spPr>
          <a:xfrm rot="0">
            <a:off x="3817739" y="1654330"/>
            <a:ext cx="10652522" cy="1114426"/>
          </a:xfrm>
          <a:prstGeom prst="rect">
            <a:avLst/>
          </a:prstGeom>
        </p:spPr>
        <p:txBody>
          <a:bodyPr anchor="t" rtlCol="false" tIns="0" lIns="0" bIns="0" rIns="0">
            <a:spAutoFit/>
          </a:bodyPr>
          <a:lstStyle/>
          <a:p>
            <a:pPr algn="ctr">
              <a:lnSpc>
                <a:spcPts val="8625"/>
              </a:lnSpc>
            </a:pPr>
            <a:r>
              <a:rPr lang="en-US" b="true" sz="7500">
                <a:solidFill>
                  <a:srgbClr val="C84C11"/>
                </a:solidFill>
                <a:latin typeface="Signika Bold"/>
                <a:ea typeface="Signika Bold"/>
                <a:cs typeface="Signika Bold"/>
                <a:sym typeface="Signika Bold"/>
              </a:rPr>
              <a:t>TARGET CUSTOMERS</a:t>
            </a:r>
          </a:p>
        </p:txBody>
      </p:sp>
      <p:sp>
        <p:nvSpPr>
          <p:cNvPr name="TextBox 7" id="7"/>
          <p:cNvSpPr txBox="true"/>
          <p:nvPr/>
        </p:nvSpPr>
        <p:spPr>
          <a:xfrm rot="0">
            <a:off x="9144000" y="3427890"/>
            <a:ext cx="7330370" cy="5599429"/>
          </a:xfrm>
          <a:prstGeom prst="rect">
            <a:avLst/>
          </a:prstGeom>
        </p:spPr>
        <p:txBody>
          <a:bodyPr anchor="t" rtlCol="false" tIns="0" lIns="0" bIns="0" rIns="0">
            <a:spAutoFit/>
          </a:bodyPr>
          <a:lstStyle/>
          <a:p>
            <a:pPr algn="just">
              <a:lnSpc>
                <a:spcPts val="3220"/>
              </a:lnSpc>
            </a:pPr>
            <a:r>
              <a:rPr lang="en-US" sz="2300" b="true">
                <a:solidFill>
                  <a:srgbClr val="000000"/>
                </a:solidFill>
                <a:latin typeface="Poppins Bold"/>
                <a:ea typeface="Poppins Bold"/>
                <a:cs typeface="Poppins Bold"/>
                <a:sym typeface="Poppins Bold"/>
              </a:rPr>
              <a:t>AIPetの主な対象顧客は、ペットを家族の一員として考え、体系的にケアしたいと望む飼い主です。</a:t>
            </a:r>
          </a:p>
          <a:p>
            <a:pPr algn="just">
              <a:lnSpc>
                <a:spcPts val="3220"/>
              </a:lnSpc>
            </a:pPr>
          </a:p>
          <a:p>
            <a:pPr algn="just">
              <a:lnSpc>
                <a:spcPts val="3220"/>
              </a:lnSpc>
            </a:pPr>
            <a:r>
              <a:rPr lang="en-US" sz="2300">
                <a:solidFill>
                  <a:srgbClr val="000000"/>
                </a:solidFill>
                <a:latin typeface="Poppins"/>
                <a:ea typeface="Poppins"/>
                <a:cs typeface="Poppins"/>
                <a:sym typeface="Poppins"/>
              </a:rPr>
              <a:t>特に</a:t>
            </a:r>
            <a:r>
              <a:rPr lang="en-US" sz="2300" b="true">
                <a:solidFill>
                  <a:srgbClr val="C84C11"/>
                </a:solidFill>
                <a:latin typeface="Poppins Bold"/>
                <a:ea typeface="Poppins Bold"/>
                <a:cs typeface="Poppins Bold"/>
                <a:sym typeface="Poppins Bold"/>
              </a:rPr>
              <a:t>20〜40代の都市居住者を中心</a:t>
            </a:r>
            <a:r>
              <a:rPr lang="en-US" sz="2300">
                <a:solidFill>
                  <a:srgbClr val="000000"/>
                </a:solidFill>
                <a:latin typeface="Poppins"/>
                <a:ea typeface="Poppins"/>
                <a:cs typeface="Poppins"/>
                <a:sym typeface="Poppins"/>
              </a:rPr>
              <a:t>に、忙しい生活の中でも散歩・食事・健康管理・予約を一括で管理できるソリューションを求める層が含まれます。さらに、高齢ペットや持病のあるペットを飼っている保護者、そして病院やトリミングサロンなどパートナー施設との円滑な連携を重視する顧客も重要なターゲットとなります。</a:t>
            </a:r>
          </a:p>
          <a:p>
            <a:pPr algn="just">
              <a:lnSpc>
                <a:spcPts val="3220"/>
              </a:lnSpc>
            </a:pPr>
          </a:p>
          <a:p>
            <a:pPr algn="just">
              <a:lnSpc>
                <a:spcPts val="3220"/>
              </a:lnSpc>
            </a:pPr>
            <a:r>
              <a:rPr lang="en-US" sz="2300">
                <a:solidFill>
                  <a:srgbClr val="000000"/>
                </a:solidFill>
                <a:latin typeface="Poppins"/>
                <a:ea typeface="Poppins"/>
                <a:cs typeface="Poppins"/>
                <a:sym typeface="Poppins"/>
              </a:rPr>
              <a:t>最終的に、AIPetは**「利便性と心のつながり」を同時に追求する現代のペットオーナー**を主要顧客として位置づけています。</a:t>
            </a:r>
          </a:p>
          <a:p>
            <a:pPr algn="just">
              <a:lnSpc>
                <a:spcPts val="3220"/>
              </a:lnSpc>
              <a:spcBef>
                <a:spcPct val="0"/>
              </a:spcBef>
            </a:pPr>
          </a:p>
        </p:txBody>
      </p:sp>
      <p:grpSp>
        <p:nvGrpSpPr>
          <p:cNvPr name="Group 8" id="8"/>
          <p:cNvGrpSpPr/>
          <p:nvPr/>
        </p:nvGrpSpPr>
        <p:grpSpPr>
          <a:xfrm rot="0">
            <a:off x="-378744" y="9258300"/>
            <a:ext cx="19765101" cy="1410694"/>
            <a:chOff x="0" y="0"/>
            <a:chExt cx="5205623" cy="371541"/>
          </a:xfrm>
        </p:grpSpPr>
        <p:sp>
          <p:nvSpPr>
            <p:cNvPr name="Freeform 9" id="9"/>
            <p:cNvSpPr/>
            <p:nvPr/>
          </p:nvSpPr>
          <p:spPr>
            <a:xfrm flipH="false" flipV="false" rot="0">
              <a:off x="0" y="0"/>
              <a:ext cx="5205623" cy="371541"/>
            </a:xfrm>
            <a:custGeom>
              <a:avLst/>
              <a:gdLst/>
              <a:ahLst/>
              <a:cxnLst/>
              <a:rect r="r" b="b" t="t" l="l"/>
              <a:pathLst>
                <a:path h="371541" w="5205623">
                  <a:moveTo>
                    <a:pt x="19977" y="0"/>
                  </a:moveTo>
                  <a:lnTo>
                    <a:pt x="5185647" y="0"/>
                  </a:lnTo>
                  <a:cubicBezTo>
                    <a:pt x="5196680" y="0"/>
                    <a:pt x="5205623" y="8944"/>
                    <a:pt x="5205623" y="19977"/>
                  </a:cubicBezTo>
                  <a:lnTo>
                    <a:pt x="5205623" y="351564"/>
                  </a:lnTo>
                  <a:cubicBezTo>
                    <a:pt x="5205623" y="356862"/>
                    <a:pt x="5203519" y="361943"/>
                    <a:pt x="5199773" y="365690"/>
                  </a:cubicBezTo>
                  <a:cubicBezTo>
                    <a:pt x="5196026" y="369436"/>
                    <a:pt x="5190945" y="371541"/>
                    <a:pt x="5185647" y="371541"/>
                  </a:cubicBezTo>
                  <a:lnTo>
                    <a:pt x="19977" y="371541"/>
                  </a:lnTo>
                  <a:cubicBezTo>
                    <a:pt x="14678" y="371541"/>
                    <a:pt x="9597" y="369436"/>
                    <a:pt x="5851" y="365690"/>
                  </a:cubicBezTo>
                  <a:cubicBezTo>
                    <a:pt x="2105" y="361943"/>
                    <a:pt x="0" y="356862"/>
                    <a:pt x="0" y="351564"/>
                  </a:cubicBezTo>
                  <a:lnTo>
                    <a:pt x="0" y="19977"/>
                  </a:lnTo>
                  <a:cubicBezTo>
                    <a:pt x="0" y="14678"/>
                    <a:pt x="2105" y="9597"/>
                    <a:pt x="5851" y="5851"/>
                  </a:cubicBezTo>
                  <a:cubicBezTo>
                    <a:pt x="9597" y="2105"/>
                    <a:pt x="14678" y="0"/>
                    <a:pt x="19977" y="0"/>
                  </a:cubicBezTo>
                  <a:close/>
                </a:path>
              </a:pathLst>
            </a:custGeom>
            <a:solidFill>
              <a:srgbClr val="D19C97"/>
            </a:solidFill>
          </p:spPr>
        </p:sp>
        <p:sp>
          <p:nvSpPr>
            <p:cNvPr name="TextBox 10" id="10"/>
            <p:cNvSpPr txBox="true"/>
            <p:nvPr/>
          </p:nvSpPr>
          <p:spPr>
            <a:xfrm>
              <a:off x="0" y="-38100"/>
              <a:ext cx="5205623" cy="409641"/>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0">
            <a:off x="-215498" y="-585040"/>
            <a:ext cx="3552841" cy="4070080"/>
          </a:xfrm>
          <a:custGeom>
            <a:avLst/>
            <a:gdLst/>
            <a:ahLst/>
            <a:cxnLst/>
            <a:rect r="r" b="b" t="t" l="l"/>
            <a:pathLst>
              <a:path h="4070080" w="3552841">
                <a:moveTo>
                  <a:pt x="0" y="0"/>
                </a:moveTo>
                <a:lnTo>
                  <a:pt x="3552840" y="0"/>
                </a:lnTo>
                <a:lnTo>
                  <a:pt x="3552840" y="4070080"/>
                </a:lnTo>
                <a:lnTo>
                  <a:pt x="0" y="407008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true" flipV="false" rot="0">
            <a:off x="14946511" y="-585040"/>
            <a:ext cx="3552841" cy="4070080"/>
          </a:xfrm>
          <a:custGeom>
            <a:avLst/>
            <a:gdLst/>
            <a:ahLst/>
            <a:cxnLst/>
            <a:rect r="r" b="b" t="t" l="l"/>
            <a:pathLst>
              <a:path h="4070080" w="3552841">
                <a:moveTo>
                  <a:pt x="3552841" y="0"/>
                </a:moveTo>
                <a:lnTo>
                  <a:pt x="0" y="0"/>
                </a:lnTo>
                <a:lnTo>
                  <a:pt x="0" y="4070080"/>
                </a:lnTo>
                <a:lnTo>
                  <a:pt x="3552841" y="4070080"/>
                </a:lnTo>
                <a:lnTo>
                  <a:pt x="3552841"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7EED3"/>
        </a:solidFill>
      </p:bgPr>
    </p:bg>
    <p:spTree>
      <p:nvGrpSpPr>
        <p:cNvPr id="1" name=""/>
        <p:cNvGrpSpPr/>
        <p:nvPr/>
      </p:nvGrpSpPr>
      <p:grpSpPr>
        <a:xfrm>
          <a:off x="0" y="0"/>
          <a:ext cx="0" cy="0"/>
          <a:chOff x="0" y="0"/>
          <a:chExt cx="0" cy="0"/>
        </a:xfrm>
      </p:grpSpPr>
      <p:grpSp>
        <p:nvGrpSpPr>
          <p:cNvPr name="Group 2" id="2"/>
          <p:cNvGrpSpPr/>
          <p:nvPr/>
        </p:nvGrpSpPr>
        <p:grpSpPr>
          <a:xfrm rot="0">
            <a:off x="11888063" y="4774485"/>
            <a:ext cx="3895144" cy="3895144"/>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14061" t="0" r="-36032" b="0"/>
              </a:stretch>
            </a:blipFill>
            <a:ln w="66675" cap="sq">
              <a:solidFill>
                <a:srgbClr val="C84C11"/>
              </a:solidFill>
              <a:prstDash val="solid"/>
              <a:miter/>
            </a:ln>
          </p:spPr>
        </p:sp>
      </p:grpSp>
      <p:grpSp>
        <p:nvGrpSpPr>
          <p:cNvPr name="Group 4" id="4"/>
          <p:cNvGrpSpPr/>
          <p:nvPr/>
        </p:nvGrpSpPr>
        <p:grpSpPr>
          <a:xfrm rot="0">
            <a:off x="10411970" y="3360308"/>
            <a:ext cx="2053843" cy="2053843"/>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2020" t="0" r="-48073" b="0"/>
              </a:stretch>
            </a:blipFill>
            <a:ln w="66675" cap="sq">
              <a:solidFill>
                <a:srgbClr val="C84C11"/>
              </a:solidFill>
              <a:prstDash val="solid"/>
              <a:miter/>
            </a:ln>
          </p:spPr>
        </p:sp>
      </p:grpSp>
      <p:grpSp>
        <p:nvGrpSpPr>
          <p:cNvPr name="Group 6" id="6"/>
          <p:cNvGrpSpPr/>
          <p:nvPr/>
        </p:nvGrpSpPr>
        <p:grpSpPr>
          <a:xfrm rot="0">
            <a:off x="12808714" y="2333386"/>
            <a:ext cx="2053843" cy="205384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18846" t="0" r="-18846" b="0"/>
              </a:stretch>
            </a:blipFill>
            <a:ln w="66675" cap="sq">
              <a:solidFill>
                <a:srgbClr val="C84C11"/>
              </a:solidFill>
              <a:prstDash val="solid"/>
              <a:miter/>
            </a:ln>
          </p:spPr>
        </p:sp>
      </p:grpSp>
      <p:grpSp>
        <p:nvGrpSpPr>
          <p:cNvPr name="Group 8" id="8"/>
          <p:cNvGrpSpPr/>
          <p:nvPr/>
        </p:nvGrpSpPr>
        <p:grpSpPr>
          <a:xfrm rot="0">
            <a:off x="15205457" y="3360308"/>
            <a:ext cx="2053843" cy="2053843"/>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25046" t="0" r="-25046" b="0"/>
              </a:stretch>
            </a:blipFill>
            <a:ln w="66675" cap="sq">
              <a:solidFill>
                <a:srgbClr val="C84C11"/>
              </a:solidFill>
              <a:prstDash val="solid"/>
              <a:miter/>
            </a:ln>
          </p:spPr>
        </p:sp>
      </p:grpSp>
      <p:grpSp>
        <p:nvGrpSpPr>
          <p:cNvPr name="Group 10" id="10"/>
          <p:cNvGrpSpPr/>
          <p:nvPr/>
        </p:nvGrpSpPr>
        <p:grpSpPr>
          <a:xfrm rot="0">
            <a:off x="-580916" y="3756217"/>
            <a:ext cx="10649986" cy="4913412"/>
            <a:chOff x="0" y="0"/>
            <a:chExt cx="2804935" cy="1294067"/>
          </a:xfrm>
        </p:grpSpPr>
        <p:sp>
          <p:nvSpPr>
            <p:cNvPr name="Freeform 11" id="11"/>
            <p:cNvSpPr/>
            <p:nvPr/>
          </p:nvSpPr>
          <p:spPr>
            <a:xfrm flipH="false" flipV="false" rot="0">
              <a:off x="0" y="0"/>
              <a:ext cx="2804935" cy="1294067"/>
            </a:xfrm>
            <a:custGeom>
              <a:avLst/>
              <a:gdLst/>
              <a:ahLst/>
              <a:cxnLst/>
              <a:rect r="r" b="b" t="t" l="l"/>
              <a:pathLst>
                <a:path h="1294067" w="2804935">
                  <a:moveTo>
                    <a:pt x="43617" y="0"/>
                  </a:moveTo>
                  <a:lnTo>
                    <a:pt x="2761318" y="0"/>
                  </a:lnTo>
                  <a:cubicBezTo>
                    <a:pt x="2785407" y="0"/>
                    <a:pt x="2804935" y="19528"/>
                    <a:pt x="2804935" y="43617"/>
                  </a:cubicBezTo>
                  <a:lnTo>
                    <a:pt x="2804935" y="1250451"/>
                  </a:lnTo>
                  <a:cubicBezTo>
                    <a:pt x="2804935" y="1274540"/>
                    <a:pt x="2785407" y="1294067"/>
                    <a:pt x="2761318" y="1294067"/>
                  </a:cubicBezTo>
                  <a:lnTo>
                    <a:pt x="43617" y="1294067"/>
                  </a:lnTo>
                  <a:cubicBezTo>
                    <a:pt x="19528" y="1294067"/>
                    <a:pt x="0" y="1274540"/>
                    <a:pt x="0" y="1250451"/>
                  </a:cubicBezTo>
                  <a:lnTo>
                    <a:pt x="0" y="43617"/>
                  </a:lnTo>
                  <a:cubicBezTo>
                    <a:pt x="0" y="19528"/>
                    <a:pt x="19528" y="0"/>
                    <a:pt x="43617" y="0"/>
                  </a:cubicBezTo>
                  <a:close/>
                </a:path>
              </a:pathLst>
            </a:custGeom>
            <a:solidFill>
              <a:srgbClr val="9A8B4E"/>
            </a:solidFill>
          </p:spPr>
        </p:sp>
        <p:sp>
          <p:nvSpPr>
            <p:cNvPr name="TextBox 12" id="12"/>
            <p:cNvSpPr txBox="true"/>
            <p:nvPr/>
          </p:nvSpPr>
          <p:spPr>
            <a:xfrm>
              <a:off x="0" y="-38100"/>
              <a:ext cx="2804935" cy="1332167"/>
            </a:xfrm>
            <a:prstGeom prst="rect">
              <a:avLst/>
            </a:prstGeom>
          </p:spPr>
          <p:txBody>
            <a:bodyPr anchor="ctr" rtlCol="false" tIns="50800" lIns="50800" bIns="50800" rIns="50800"/>
            <a:lstStyle/>
            <a:p>
              <a:pPr algn="ctr">
                <a:lnSpc>
                  <a:spcPts val="2659"/>
                </a:lnSpc>
              </a:pPr>
            </a:p>
          </p:txBody>
        </p:sp>
      </p:grpSp>
      <p:sp>
        <p:nvSpPr>
          <p:cNvPr name="TextBox 13" id="13"/>
          <p:cNvSpPr txBox="true"/>
          <p:nvPr/>
        </p:nvSpPr>
        <p:spPr>
          <a:xfrm rot="0">
            <a:off x="2132220" y="2125994"/>
            <a:ext cx="8107713" cy="1114426"/>
          </a:xfrm>
          <a:prstGeom prst="rect">
            <a:avLst/>
          </a:prstGeom>
        </p:spPr>
        <p:txBody>
          <a:bodyPr anchor="t" rtlCol="false" tIns="0" lIns="0" bIns="0" rIns="0">
            <a:spAutoFit/>
          </a:bodyPr>
          <a:lstStyle/>
          <a:p>
            <a:pPr algn="l">
              <a:lnSpc>
                <a:spcPts val="8625"/>
              </a:lnSpc>
            </a:pPr>
            <a:r>
              <a:rPr lang="en-US" sz="7500" b="true">
                <a:solidFill>
                  <a:srgbClr val="9A8B4E"/>
                </a:solidFill>
                <a:latin typeface="Signika Bold"/>
                <a:ea typeface="Signika Bold"/>
                <a:cs typeface="Signika Bold"/>
                <a:sym typeface="Signika Bold"/>
              </a:rPr>
              <a:t>MARKET TRENDS</a:t>
            </a:r>
          </a:p>
        </p:txBody>
      </p:sp>
      <p:sp>
        <p:nvSpPr>
          <p:cNvPr name="TextBox 14" id="14"/>
          <p:cNvSpPr txBox="true"/>
          <p:nvPr/>
        </p:nvSpPr>
        <p:spPr>
          <a:xfrm rot="0">
            <a:off x="1619700" y="4110194"/>
            <a:ext cx="7766955" cy="5199379"/>
          </a:xfrm>
          <a:prstGeom prst="rect">
            <a:avLst/>
          </a:prstGeom>
        </p:spPr>
        <p:txBody>
          <a:bodyPr anchor="t" rtlCol="false" tIns="0" lIns="0" bIns="0" rIns="0">
            <a:spAutoFit/>
          </a:bodyPr>
          <a:lstStyle/>
          <a:p>
            <a:pPr algn="just">
              <a:lnSpc>
                <a:spcPts val="3220"/>
              </a:lnSpc>
            </a:pPr>
            <a:r>
              <a:rPr lang="en-US" sz="2300" b="true">
                <a:solidFill>
                  <a:srgbClr val="FFFFFF"/>
                </a:solidFill>
                <a:latin typeface="Poppins Medium"/>
                <a:ea typeface="Poppins Medium"/>
                <a:cs typeface="Poppins Medium"/>
                <a:sym typeface="Poppins Medium"/>
              </a:rPr>
              <a:t>日本のペット市場は安定成長を続けており、</a:t>
            </a:r>
          </a:p>
          <a:p>
            <a:pPr algn="just">
              <a:lnSpc>
                <a:spcPts val="3220"/>
              </a:lnSpc>
            </a:pPr>
            <a:r>
              <a:rPr lang="en-US" sz="2300" b="true">
                <a:solidFill>
                  <a:srgbClr val="FFFFFF"/>
                </a:solidFill>
                <a:latin typeface="Poppins Medium"/>
                <a:ea typeface="Poppins Medium"/>
                <a:cs typeface="Poppins Medium"/>
                <a:sym typeface="Poppins Medium"/>
              </a:rPr>
              <a:t>特に</a:t>
            </a:r>
            <a:r>
              <a:rPr lang="en-US" sz="2300" b="true">
                <a:solidFill>
                  <a:srgbClr val="FFFFFF"/>
                </a:solidFill>
                <a:latin typeface="Poppins Bold"/>
                <a:ea typeface="Poppins Bold"/>
                <a:cs typeface="Poppins Bold"/>
                <a:sym typeface="Poppins Bold"/>
              </a:rPr>
              <a:t>高齢化・小型化・健康管理ニーズ</a:t>
            </a:r>
            <a:r>
              <a:rPr lang="en-US" sz="2300" b="true">
                <a:solidFill>
                  <a:srgbClr val="FFFFFF"/>
                </a:solidFill>
                <a:latin typeface="Poppins Medium"/>
                <a:ea typeface="Poppins Medium"/>
                <a:cs typeface="Poppins Medium"/>
                <a:sym typeface="Poppins Medium"/>
              </a:rPr>
              <a:t>が顕著です。</a:t>
            </a:r>
          </a:p>
          <a:p>
            <a:pPr algn="just">
              <a:lnSpc>
                <a:spcPts val="3220"/>
              </a:lnSpc>
            </a:pPr>
          </a:p>
          <a:p>
            <a:pPr algn="just">
              <a:lnSpc>
                <a:spcPts val="3220"/>
              </a:lnSpc>
            </a:pPr>
            <a:r>
              <a:rPr lang="en-US" sz="2300" b="true">
                <a:solidFill>
                  <a:srgbClr val="FFFFFF"/>
                </a:solidFill>
                <a:latin typeface="Poppins Medium"/>
                <a:ea typeface="Poppins Medium"/>
                <a:cs typeface="Poppins Medium"/>
                <a:sym typeface="Poppins Medium"/>
              </a:rPr>
              <a:t>無添加・機能性ペットフードやオンライン販売、保険など高付加価値サービスが拡大しており、</a:t>
            </a:r>
          </a:p>
          <a:p>
            <a:pPr algn="just">
              <a:lnSpc>
                <a:spcPts val="3220"/>
              </a:lnSpc>
            </a:pPr>
            <a:r>
              <a:rPr lang="en-US" sz="2300" b="true">
                <a:solidFill>
                  <a:srgbClr val="FFFFFF"/>
                </a:solidFill>
                <a:latin typeface="Poppins Medium"/>
                <a:ea typeface="Poppins Medium"/>
                <a:cs typeface="Poppins Medium"/>
                <a:sym typeface="Poppins Medium"/>
              </a:rPr>
              <a:t>高齢ペットの増加により予防医療やAI/IoTを活用した</a:t>
            </a:r>
          </a:p>
          <a:p>
            <a:pPr algn="just">
              <a:lnSpc>
                <a:spcPts val="3220"/>
              </a:lnSpc>
            </a:pPr>
            <a:r>
              <a:rPr lang="en-US" sz="2300" b="true">
                <a:solidFill>
                  <a:srgbClr val="FFFFFF"/>
                </a:solidFill>
                <a:latin typeface="Poppins Medium"/>
                <a:ea typeface="Poppins Medium"/>
                <a:cs typeface="Poppins Medium"/>
                <a:sym typeface="Poppins Medium"/>
              </a:rPr>
              <a:t>健康管理の重要性も高まっています。</a:t>
            </a:r>
          </a:p>
          <a:p>
            <a:pPr algn="just">
              <a:lnSpc>
                <a:spcPts val="3220"/>
              </a:lnSpc>
            </a:pPr>
          </a:p>
          <a:p>
            <a:pPr algn="just">
              <a:lnSpc>
                <a:spcPts val="3220"/>
              </a:lnSpc>
            </a:pPr>
            <a:r>
              <a:rPr lang="en-US" sz="2300" b="true">
                <a:solidFill>
                  <a:srgbClr val="FFFFFF"/>
                </a:solidFill>
                <a:latin typeface="Poppins Medium"/>
                <a:ea typeface="Poppins Medium"/>
                <a:cs typeface="Poppins Medium"/>
                <a:sym typeface="Poppins Medium"/>
              </a:rPr>
              <a:t>さらに、猫の飼育世帯が増加し、猫市場の存在感も強まっています。</a:t>
            </a:r>
          </a:p>
          <a:p>
            <a:pPr algn="just">
              <a:lnSpc>
                <a:spcPts val="3220"/>
              </a:lnSpc>
            </a:pPr>
          </a:p>
          <a:p>
            <a:pPr algn="just">
              <a:lnSpc>
                <a:spcPts val="3220"/>
              </a:lnSpc>
            </a:pPr>
          </a:p>
          <a:p>
            <a:pPr algn="just">
              <a:lnSpc>
                <a:spcPts val="3220"/>
              </a:lnSpc>
              <a:spcBef>
                <a:spcPct val="0"/>
              </a:spcBef>
            </a:pPr>
          </a:p>
        </p:txBody>
      </p:sp>
      <p:sp>
        <p:nvSpPr>
          <p:cNvPr name="Freeform 15" id="15"/>
          <p:cNvSpPr/>
          <p:nvPr/>
        </p:nvSpPr>
        <p:spPr>
          <a:xfrm flipH="false" flipV="true" rot="0">
            <a:off x="14647780" y="-314575"/>
            <a:ext cx="4239133" cy="2686551"/>
          </a:xfrm>
          <a:custGeom>
            <a:avLst/>
            <a:gdLst/>
            <a:ahLst/>
            <a:cxnLst/>
            <a:rect r="r" b="b" t="t" l="l"/>
            <a:pathLst>
              <a:path h="2686551" w="4239133">
                <a:moveTo>
                  <a:pt x="0" y="2686550"/>
                </a:moveTo>
                <a:lnTo>
                  <a:pt x="4239134" y="2686550"/>
                </a:lnTo>
                <a:lnTo>
                  <a:pt x="4239134" y="0"/>
                </a:lnTo>
                <a:lnTo>
                  <a:pt x="0" y="0"/>
                </a:lnTo>
                <a:lnTo>
                  <a:pt x="0" y="268655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6" id="16"/>
          <p:cNvSpPr/>
          <p:nvPr/>
        </p:nvSpPr>
        <p:spPr>
          <a:xfrm flipH="false" flipV="false" rot="0">
            <a:off x="-408815" y="1028700"/>
            <a:ext cx="2875031" cy="686414"/>
          </a:xfrm>
          <a:custGeom>
            <a:avLst/>
            <a:gdLst/>
            <a:ahLst/>
            <a:cxnLst/>
            <a:rect r="r" b="b" t="t" l="l"/>
            <a:pathLst>
              <a:path h="686414" w="2875031">
                <a:moveTo>
                  <a:pt x="0" y="0"/>
                </a:moveTo>
                <a:lnTo>
                  <a:pt x="2875030" y="0"/>
                </a:lnTo>
                <a:lnTo>
                  <a:pt x="2875030" y="686414"/>
                </a:lnTo>
                <a:lnTo>
                  <a:pt x="0" y="68641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7EED3"/>
        </a:solidFill>
      </p:bgPr>
    </p:bg>
    <p:spTree>
      <p:nvGrpSpPr>
        <p:cNvPr id="1" name=""/>
        <p:cNvGrpSpPr/>
        <p:nvPr/>
      </p:nvGrpSpPr>
      <p:grpSpPr>
        <a:xfrm>
          <a:off x="0" y="0"/>
          <a:ext cx="0" cy="0"/>
          <a:chOff x="0" y="0"/>
          <a:chExt cx="0" cy="0"/>
        </a:xfrm>
      </p:grpSpPr>
      <p:sp>
        <p:nvSpPr>
          <p:cNvPr name="TextBox 2" id="2"/>
          <p:cNvSpPr txBox="true"/>
          <p:nvPr/>
        </p:nvSpPr>
        <p:spPr>
          <a:xfrm rot="0">
            <a:off x="2318052" y="2160389"/>
            <a:ext cx="13651897" cy="1114426"/>
          </a:xfrm>
          <a:prstGeom prst="rect">
            <a:avLst/>
          </a:prstGeom>
        </p:spPr>
        <p:txBody>
          <a:bodyPr anchor="t" rtlCol="false" tIns="0" lIns="0" bIns="0" rIns="0">
            <a:spAutoFit/>
          </a:bodyPr>
          <a:lstStyle/>
          <a:p>
            <a:pPr algn="ctr">
              <a:lnSpc>
                <a:spcPts val="8625"/>
              </a:lnSpc>
            </a:pPr>
            <a:r>
              <a:rPr lang="en-US" b="true" sz="7500">
                <a:solidFill>
                  <a:srgbClr val="7391C7"/>
                </a:solidFill>
                <a:latin typeface="Signika Bold"/>
                <a:ea typeface="Signika Bold"/>
                <a:cs typeface="Signika Bold"/>
                <a:sym typeface="Signika Bold"/>
              </a:rPr>
              <a:t>COMMUNITY ENGAGEMENT</a:t>
            </a:r>
          </a:p>
        </p:txBody>
      </p:sp>
      <p:grpSp>
        <p:nvGrpSpPr>
          <p:cNvPr name="Group 3" id="3"/>
          <p:cNvGrpSpPr/>
          <p:nvPr/>
        </p:nvGrpSpPr>
        <p:grpSpPr>
          <a:xfrm rot="0">
            <a:off x="-716450" y="3891265"/>
            <a:ext cx="19720900" cy="4456464"/>
            <a:chOff x="0" y="0"/>
            <a:chExt cx="5193982" cy="1173719"/>
          </a:xfrm>
        </p:grpSpPr>
        <p:sp>
          <p:nvSpPr>
            <p:cNvPr name="Freeform 4" id="4"/>
            <p:cNvSpPr/>
            <p:nvPr/>
          </p:nvSpPr>
          <p:spPr>
            <a:xfrm flipH="false" flipV="false" rot="0">
              <a:off x="0" y="0"/>
              <a:ext cx="5193982" cy="1173719"/>
            </a:xfrm>
            <a:custGeom>
              <a:avLst/>
              <a:gdLst/>
              <a:ahLst/>
              <a:cxnLst/>
              <a:rect r="r" b="b" t="t" l="l"/>
              <a:pathLst>
                <a:path h="1173719" w="5193982">
                  <a:moveTo>
                    <a:pt x="23554" y="0"/>
                  </a:moveTo>
                  <a:lnTo>
                    <a:pt x="5170427" y="0"/>
                  </a:lnTo>
                  <a:cubicBezTo>
                    <a:pt x="5183436" y="0"/>
                    <a:pt x="5193982" y="10546"/>
                    <a:pt x="5193982" y="23554"/>
                  </a:cubicBezTo>
                  <a:lnTo>
                    <a:pt x="5193982" y="1150164"/>
                  </a:lnTo>
                  <a:cubicBezTo>
                    <a:pt x="5193982" y="1163173"/>
                    <a:pt x="5183436" y="1173719"/>
                    <a:pt x="5170427" y="1173719"/>
                  </a:cubicBezTo>
                  <a:lnTo>
                    <a:pt x="23554" y="1173719"/>
                  </a:lnTo>
                  <a:cubicBezTo>
                    <a:pt x="10546" y="1173719"/>
                    <a:pt x="0" y="1163173"/>
                    <a:pt x="0" y="1150164"/>
                  </a:cubicBezTo>
                  <a:lnTo>
                    <a:pt x="0" y="23554"/>
                  </a:lnTo>
                  <a:cubicBezTo>
                    <a:pt x="0" y="10546"/>
                    <a:pt x="10546" y="0"/>
                    <a:pt x="23554" y="0"/>
                  </a:cubicBezTo>
                  <a:close/>
                </a:path>
              </a:pathLst>
            </a:custGeom>
            <a:solidFill>
              <a:srgbClr val="7391C7"/>
            </a:solidFill>
          </p:spPr>
        </p:sp>
        <p:sp>
          <p:nvSpPr>
            <p:cNvPr name="TextBox 5" id="5"/>
            <p:cNvSpPr txBox="true"/>
            <p:nvPr/>
          </p:nvSpPr>
          <p:spPr>
            <a:xfrm>
              <a:off x="0" y="-38100"/>
              <a:ext cx="5193982" cy="1211819"/>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920089" y="4172587"/>
            <a:ext cx="14447822" cy="3817620"/>
          </a:xfrm>
          <a:prstGeom prst="rect">
            <a:avLst/>
          </a:prstGeom>
        </p:spPr>
        <p:txBody>
          <a:bodyPr anchor="t" rtlCol="false" tIns="0" lIns="0" bIns="0" rIns="0">
            <a:spAutoFit/>
          </a:bodyPr>
          <a:lstStyle/>
          <a:p>
            <a:pPr algn="just">
              <a:lnSpc>
                <a:spcPts val="3780"/>
              </a:lnSpc>
            </a:pPr>
            <a:r>
              <a:rPr lang="en-US" sz="2700" b="true">
                <a:solidFill>
                  <a:srgbClr val="FFFFFF"/>
                </a:solidFill>
                <a:latin typeface="Poppins Medium"/>
                <a:ea typeface="Poppins Medium"/>
                <a:cs typeface="Poppins Medium"/>
                <a:sym typeface="Poppins Medium"/>
              </a:rPr>
              <a:t>AIPetは単なるサービス提供にとどまらず、</a:t>
            </a:r>
            <a:r>
              <a:rPr lang="en-US" sz="2700" b="true">
                <a:solidFill>
                  <a:srgbClr val="FFFFFF"/>
                </a:solidFill>
                <a:latin typeface="Poppins Bold"/>
                <a:ea typeface="Poppins Bold"/>
                <a:cs typeface="Poppins Bold"/>
                <a:sym typeface="Poppins Bold"/>
              </a:rPr>
              <a:t>飼い主とパートナーが共に参加</a:t>
            </a:r>
            <a:r>
              <a:rPr lang="en-US" sz="2700" b="true">
                <a:solidFill>
                  <a:srgbClr val="FFFFFF"/>
                </a:solidFill>
                <a:latin typeface="Poppins Medium"/>
                <a:ea typeface="Poppins Medium"/>
                <a:cs typeface="Poppins Medium"/>
                <a:sym typeface="Poppins Medium"/>
              </a:rPr>
              <a:t>できる</a:t>
            </a:r>
          </a:p>
          <a:p>
            <a:pPr algn="just">
              <a:lnSpc>
                <a:spcPts val="3780"/>
              </a:lnSpc>
            </a:pPr>
            <a:r>
              <a:rPr lang="en-US" sz="2700" b="true">
                <a:solidFill>
                  <a:srgbClr val="FFFFFF"/>
                </a:solidFill>
                <a:latin typeface="Poppins Medium"/>
                <a:ea typeface="Poppins Medium"/>
                <a:cs typeface="Poppins Medium"/>
                <a:sym typeface="Poppins Medium"/>
              </a:rPr>
              <a:t>コミュニティを目指しています。</a:t>
            </a:r>
          </a:p>
          <a:p>
            <a:pPr algn="just">
              <a:lnSpc>
                <a:spcPts val="3780"/>
              </a:lnSpc>
            </a:pPr>
          </a:p>
          <a:p>
            <a:pPr algn="just">
              <a:lnSpc>
                <a:spcPts val="3780"/>
              </a:lnSpc>
            </a:pPr>
            <a:r>
              <a:rPr lang="en-US" sz="2700" b="true">
                <a:solidFill>
                  <a:srgbClr val="FFFFFF"/>
                </a:solidFill>
                <a:latin typeface="Poppins Medium"/>
                <a:ea typeface="Poppins Medium"/>
                <a:cs typeface="Poppins Medium"/>
                <a:sym typeface="Poppins Medium"/>
              </a:rPr>
              <a:t>ユーザーは散歩・記録・写真の共有を通じて体験を分かち合い、病院やトリミングサロンなど</a:t>
            </a:r>
          </a:p>
          <a:p>
            <a:pPr algn="just">
              <a:lnSpc>
                <a:spcPts val="3780"/>
              </a:lnSpc>
            </a:pPr>
            <a:r>
              <a:rPr lang="en-US" sz="2700" b="true">
                <a:solidFill>
                  <a:srgbClr val="FFFFFF"/>
                </a:solidFill>
                <a:latin typeface="Poppins Medium"/>
                <a:ea typeface="Poppins Medium"/>
                <a:cs typeface="Poppins Medium"/>
                <a:sym typeface="Poppins Medium"/>
              </a:rPr>
              <a:t>パートナー施設はプラットフォームを通じて顧客と直接つながることができます。</a:t>
            </a:r>
          </a:p>
          <a:p>
            <a:pPr algn="just">
              <a:lnSpc>
                <a:spcPts val="3780"/>
              </a:lnSpc>
            </a:pPr>
          </a:p>
          <a:p>
            <a:pPr algn="just">
              <a:lnSpc>
                <a:spcPts val="3780"/>
              </a:lnSpc>
              <a:spcBef>
                <a:spcPct val="0"/>
              </a:spcBef>
            </a:pPr>
            <a:r>
              <a:rPr lang="en-US" b="true" sz="2700">
                <a:solidFill>
                  <a:srgbClr val="FFFFFF"/>
                </a:solidFill>
                <a:latin typeface="Poppins Medium"/>
                <a:ea typeface="Poppins Medium"/>
                <a:cs typeface="Poppins Medium"/>
                <a:sym typeface="Poppins Medium"/>
              </a:rPr>
              <a:t>また、フィードバック収集やベータテスト参加を通じてユーザーの声を反映したサービス改善を継続し、飼い主とパートナーが共に成長できる健全なエコシステムを構築しています。</a:t>
            </a:r>
          </a:p>
        </p:txBody>
      </p:sp>
      <p:sp>
        <p:nvSpPr>
          <p:cNvPr name="Freeform 7" id="7"/>
          <p:cNvSpPr/>
          <p:nvPr/>
        </p:nvSpPr>
        <p:spPr>
          <a:xfrm flipH="false" flipV="true" rot="0">
            <a:off x="14647780" y="-314575"/>
            <a:ext cx="4239133" cy="2686551"/>
          </a:xfrm>
          <a:custGeom>
            <a:avLst/>
            <a:gdLst/>
            <a:ahLst/>
            <a:cxnLst/>
            <a:rect r="r" b="b" t="t" l="l"/>
            <a:pathLst>
              <a:path h="2686551" w="4239133">
                <a:moveTo>
                  <a:pt x="0" y="2686550"/>
                </a:moveTo>
                <a:lnTo>
                  <a:pt x="4239134" y="2686550"/>
                </a:lnTo>
                <a:lnTo>
                  <a:pt x="4239134" y="0"/>
                </a:lnTo>
                <a:lnTo>
                  <a:pt x="0" y="0"/>
                </a:lnTo>
                <a:lnTo>
                  <a:pt x="0" y="268655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true" flipV="false" rot="0">
            <a:off x="-716450" y="7915025"/>
            <a:ext cx="4239133" cy="2686551"/>
          </a:xfrm>
          <a:custGeom>
            <a:avLst/>
            <a:gdLst/>
            <a:ahLst/>
            <a:cxnLst/>
            <a:rect r="r" b="b" t="t" l="l"/>
            <a:pathLst>
              <a:path h="2686551" w="4239133">
                <a:moveTo>
                  <a:pt x="4239133" y="0"/>
                </a:moveTo>
                <a:lnTo>
                  <a:pt x="0" y="0"/>
                </a:lnTo>
                <a:lnTo>
                  <a:pt x="0" y="2686550"/>
                </a:lnTo>
                <a:lnTo>
                  <a:pt x="4239133" y="2686550"/>
                </a:lnTo>
                <a:lnTo>
                  <a:pt x="4239133"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7EED3"/>
        </a:solidFill>
      </p:bgPr>
    </p:bg>
    <p:spTree>
      <p:nvGrpSpPr>
        <p:cNvPr id="1" name=""/>
        <p:cNvGrpSpPr/>
        <p:nvPr/>
      </p:nvGrpSpPr>
      <p:grpSpPr>
        <a:xfrm>
          <a:off x="0" y="0"/>
          <a:ext cx="0" cy="0"/>
          <a:chOff x="0" y="0"/>
          <a:chExt cx="0" cy="0"/>
        </a:xfrm>
      </p:grpSpPr>
      <p:grpSp>
        <p:nvGrpSpPr>
          <p:cNvPr name="Group 2" id="2"/>
          <p:cNvGrpSpPr/>
          <p:nvPr/>
        </p:nvGrpSpPr>
        <p:grpSpPr>
          <a:xfrm rot="0">
            <a:off x="1564730" y="1656706"/>
            <a:ext cx="7084394" cy="2395503"/>
            <a:chOff x="0" y="0"/>
            <a:chExt cx="1609244" cy="544147"/>
          </a:xfrm>
        </p:grpSpPr>
        <p:sp>
          <p:nvSpPr>
            <p:cNvPr name="Freeform 3" id="3"/>
            <p:cNvSpPr/>
            <p:nvPr/>
          </p:nvSpPr>
          <p:spPr>
            <a:xfrm flipH="false" flipV="false" rot="0">
              <a:off x="0" y="0"/>
              <a:ext cx="1609245" cy="544147"/>
            </a:xfrm>
            <a:custGeom>
              <a:avLst/>
              <a:gdLst/>
              <a:ahLst/>
              <a:cxnLst/>
              <a:rect r="r" b="b" t="t" l="l"/>
              <a:pathLst>
                <a:path h="544147" w="1609245">
                  <a:moveTo>
                    <a:pt x="71033" y="0"/>
                  </a:moveTo>
                  <a:lnTo>
                    <a:pt x="1538212" y="0"/>
                  </a:lnTo>
                  <a:cubicBezTo>
                    <a:pt x="1577442" y="0"/>
                    <a:pt x="1609245" y="31802"/>
                    <a:pt x="1609245" y="71033"/>
                  </a:cubicBezTo>
                  <a:lnTo>
                    <a:pt x="1609245" y="473114"/>
                  </a:lnTo>
                  <a:cubicBezTo>
                    <a:pt x="1609245" y="491953"/>
                    <a:pt x="1601761" y="510020"/>
                    <a:pt x="1588439" y="523342"/>
                  </a:cubicBezTo>
                  <a:cubicBezTo>
                    <a:pt x="1575118" y="536663"/>
                    <a:pt x="1557051" y="544147"/>
                    <a:pt x="1538212" y="544147"/>
                  </a:cubicBezTo>
                  <a:lnTo>
                    <a:pt x="71033" y="544147"/>
                  </a:lnTo>
                  <a:cubicBezTo>
                    <a:pt x="52194" y="544147"/>
                    <a:pt x="34126" y="536663"/>
                    <a:pt x="20805" y="523342"/>
                  </a:cubicBezTo>
                  <a:cubicBezTo>
                    <a:pt x="7484" y="510020"/>
                    <a:pt x="0" y="491953"/>
                    <a:pt x="0" y="473114"/>
                  </a:cubicBezTo>
                  <a:lnTo>
                    <a:pt x="0" y="71033"/>
                  </a:lnTo>
                  <a:cubicBezTo>
                    <a:pt x="0" y="52194"/>
                    <a:pt x="7484" y="34126"/>
                    <a:pt x="20805" y="20805"/>
                  </a:cubicBezTo>
                  <a:cubicBezTo>
                    <a:pt x="34126" y="7484"/>
                    <a:pt x="52194" y="0"/>
                    <a:pt x="71033" y="0"/>
                  </a:cubicBezTo>
                  <a:close/>
                </a:path>
              </a:pathLst>
            </a:custGeom>
            <a:blipFill>
              <a:blip r:embed="rId2"/>
              <a:stretch>
                <a:fillRect l="0" t="-33176" r="0" b="-33176"/>
              </a:stretch>
            </a:blipFill>
            <a:ln w="66675" cap="rnd">
              <a:solidFill>
                <a:srgbClr val="C84C11"/>
              </a:solidFill>
              <a:prstDash val="solid"/>
              <a:round/>
            </a:ln>
          </p:spPr>
        </p:sp>
      </p:grpSp>
      <p:grpSp>
        <p:nvGrpSpPr>
          <p:cNvPr name="Group 4" id="4"/>
          <p:cNvGrpSpPr/>
          <p:nvPr/>
        </p:nvGrpSpPr>
        <p:grpSpPr>
          <a:xfrm rot="0">
            <a:off x="-378744" y="9258300"/>
            <a:ext cx="19765101" cy="1410694"/>
            <a:chOff x="0" y="0"/>
            <a:chExt cx="5205623" cy="371541"/>
          </a:xfrm>
        </p:grpSpPr>
        <p:sp>
          <p:nvSpPr>
            <p:cNvPr name="Freeform 5" id="5"/>
            <p:cNvSpPr/>
            <p:nvPr/>
          </p:nvSpPr>
          <p:spPr>
            <a:xfrm flipH="false" flipV="false" rot="0">
              <a:off x="0" y="0"/>
              <a:ext cx="5205623" cy="371541"/>
            </a:xfrm>
            <a:custGeom>
              <a:avLst/>
              <a:gdLst/>
              <a:ahLst/>
              <a:cxnLst/>
              <a:rect r="r" b="b" t="t" l="l"/>
              <a:pathLst>
                <a:path h="371541" w="5205623">
                  <a:moveTo>
                    <a:pt x="19977" y="0"/>
                  </a:moveTo>
                  <a:lnTo>
                    <a:pt x="5185647" y="0"/>
                  </a:lnTo>
                  <a:cubicBezTo>
                    <a:pt x="5196680" y="0"/>
                    <a:pt x="5205623" y="8944"/>
                    <a:pt x="5205623" y="19977"/>
                  </a:cubicBezTo>
                  <a:lnTo>
                    <a:pt x="5205623" y="351564"/>
                  </a:lnTo>
                  <a:cubicBezTo>
                    <a:pt x="5205623" y="356862"/>
                    <a:pt x="5203519" y="361943"/>
                    <a:pt x="5199773" y="365690"/>
                  </a:cubicBezTo>
                  <a:cubicBezTo>
                    <a:pt x="5196026" y="369436"/>
                    <a:pt x="5190945" y="371541"/>
                    <a:pt x="5185647" y="371541"/>
                  </a:cubicBezTo>
                  <a:lnTo>
                    <a:pt x="19977" y="371541"/>
                  </a:lnTo>
                  <a:cubicBezTo>
                    <a:pt x="14678" y="371541"/>
                    <a:pt x="9597" y="369436"/>
                    <a:pt x="5851" y="365690"/>
                  </a:cubicBezTo>
                  <a:cubicBezTo>
                    <a:pt x="2105" y="361943"/>
                    <a:pt x="0" y="356862"/>
                    <a:pt x="0" y="351564"/>
                  </a:cubicBezTo>
                  <a:lnTo>
                    <a:pt x="0" y="19977"/>
                  </a:lnTo>
                  <a:cubicBezTo>
                    <a:pt x="0" y="14678"/>
                    <a:pt x="2105" y="9597"/>
                    <a:pt x="5851" y="5851"/>
                  </a:cubicBezTo>
                  <a:cubicBezTo>
                    <a:pt x="9597" y="2105"/>
                    <a:pt x="14678" y="0"/>
                    <a:pt x="19977" y="0"/>
                  </a:cubicBezTo>
                  <a:close/>
                </a:path>
              </a:pathLst>
            </a:custGeom>
            <a:solidFill>
              <a:srgbClr val="A47764"/>
            </a:solidFill>
          </p:spPr>
        </p:sp>
        <p:sp>
          <p:nvSpPr>
            <p:cNvPr name="TextBox 6" id="6"/>
            <p:cNvSpPr txBox="true"/>
            <p:nvPr/>
          </p:nvSpPr>
          <p:spPr>
            <a:xfrm>
              <a:off x="0" y="-38100"/>
              <a:ext cx="5205623" cy="409641"/>
            </a:xfrm>
            <a:prstGeom prst="rect">
              <a:avLst/>
            </a:prstGeom>
          </p:spPr>
          <p:txBody>
            <a:bodyPr anchor="ctr" rtlCol="false" tIns="50800" lIns="50800" bIns="50800" rIns="50800"/>
            <a:lstStyle/>
            <a:p>
              <a:pPr algn="ctr">
                <a:lnSpc>
                  <a:spcPts val="2659"/>
                </a:lnSpc>
              </a:pPr>
            </a:p>
          </p:txBody>
        </p:sp>
      </p:grpSp>
      <p:sp>
        <p:nvSpPr>
          <p:cNvPr name="TextBox 7" id="7"/>
          <p:cNvSpPr txBox="true"/>
          <p:nvPr/>
        </p:nvSpPr>
        <p:spPr>
          <a:xfrm rot="0">
            <a:off x="9528918" y="2311532"/>
            <a:ext cx="7307975" cy="1114426"/>
          </a:xfrm>
          <a:prstGeom prst="rect">
            <a:avLst/>
          </a:prstGeom>
        </p:spPr>
        <p:txBody>
          <a:bodyPr anchor="t" rtlCol="false" tIns="0" lIns="0" bIns="0" rIns="0">
            <a:spAutoFit/>
          </a:bodyPr>
          <a:lstStyle/>
          <a:p>
            <a:pPr algn="l">
              <a:lnSpc>
                <a:spcPts val="8625"/>
              </a:lnSpc>
            </a:pPr>
            <a:r>
              <a:rPr lang="en-US" b="true" sz="7500">
                <a:solidFill>
                  <a:srgbClr val="A47764"/>
                </a:solidFill>
                <a:latin typeface="Signika Bold"/>
                <a:ea typeface="Signika Bold"/>
                <a:cs typeface="Signika Bold"/>
                <a:sym typeface="Signika Bold"/>
              </a:rPr>
              <a:t>FUTURE PLANS</a:t>
            </a:r>
          </a:p>
        </p:txBody>
      </p:sp>
      <p:sp>
        <p:nvSpPr>
          <p:cNvPr name="TextBox 8" id="8"/>
          <p:cNvSpPr txBox="true"/>
          <p:nvPr/>
        </p:nvSpPr>
        <p:spPr>
          <a:xfrm rot="0">
            <a:off x="1858257" y="4922214"/>
            <a:ext cx="6497341" cy="2799079"/>
          </a:xfrm>
          <a:prstGeom prst="rect">
            <a:avLst/>
          </a:prstGeom>
        </p:spPr>
        <p:txBody>
          <a:bodyPr anchor="t" rtlCol="false" tIns="0" lIns="0" bIns="0" rIns="0">
            <a:spAutoFit/>
          </a:bodyPr>
          <a:lstStyle/>
          <a:p>
            <a:pPr algn="just">
              <a:lnSpc>
                <a:spcPts val="3220"/>
              </a:lnSpc>
            </a:pPr>
            <a:r>
              <a:rPr lang="en-US" sz="2300">
                <a:solidFill>
                  <a:srgbClr val="000000"/>
                </a:solidFill>
                <a:latin typeface="Poppins"/>
                <a:ea typeface="Poppins"/>
                <a:cs typeface="Poppins"/>
                <a:sym typeface="Poppins"/>
              </a:rPr>
              <a:t>AIPetは今後、データに基づくパーソナライズドケアを強化し、AI分析やIoTデバイスとの連携によってペットの健康をより精密に管理できる機能を展開していきます。これにより、飼い主には実用的な利便性を、ペットにはより安全で健やかな生活環境を提供することを目指します。</a:t>
            </a:r>
          </a:p>
          <a:p>
            <a:pPr algn="just">
              <a:lnSpc>
                <a:spcPts val="3220"/>
              </a:lnSpc>
              <a:spcBef>
                <a:spcPct val="0"/>
              </a:spcBef>
            </a:pPr>
          </a:p>
        </p:txBody>
      </p:sp>
      <p:sp>
        <p:nvSpPr>
          <p:cNvPr name="TextBox 9" id="9"/>
          <p:cNvSpPr txBox="true"/>
          <p:nvPr/>
        </p:nvSpPr>
        <p:spPr>
          <a:xfrm rot="0">
            <a:off x="9737227" y="4922214"/>
            <a:ext cx="6307969" cy="3199129"/>
          </a:xfrm>
          <a:prstGeom prst="rect">
            <a:avLst/>
          </a:prstGeom>
        </p:spPr>
        <p:txBody>
          <a:bodyPr anchor="t" rtlCol="false" tIns="0" lIns="0" bIns="0" rIns="0">
            <a:spAutoFit/>
          </a:bodyPr>
          <a:lstStyle/>
          <a:p>
            <a:pPr algn="just">
              <a:lnSpc>
                <a:spcPts val="3220"/>
              </a:lnSpc>
            </a:pPr>
            <a:r>
              <a:rPr lang="en-US" sz="2300">
                <a:solidFill>
                  <a:srgbClr val="000000"/>
                </a:solidFill>
                <a:latin typeface="Poppins"/>
                <a:ea typeface="Poppins"/>
                <a:cs typeface="Poppins"/>
                <a:sym typeface="Poppins"/>
              </a:rPr>
              <a:t>さらに、病院やトリミングサロンなどのパートナー施設との連携を拡大し、飼い主とサービス提供者が共に成長できるエコシステムを構築していきます。将来的には、サブスクリプションモデルやコミュニティ機能を発展させ、継続的な価値と差別化された体験を提供する方向を目指します。</a:t>
            </a:r>
          </a:p>
          <a:p>
            <a:pPr algn="just">
              <a:lnSpc>
                <a:spcPts val="3220"/>
              </a:lnSpc>
              <a:spcBef>
                <a:spcPct val="0"/>
              </a:spcBef>
            </a:pPr>
          </a:p>
        </p:txBody>
      </p:sp>
      <p:sp>
        <p:nvSpPr>
          <p:cNvPr name="Freeform 10" id="10"/>
          <p:cNvSpPr/>
          <p:nvPr/>
        </p:nvSpPr>
        <p:spPr>
          <a:xfrm flipH="true" flipV="false" rot="0">
            <a:off x="14946511" y="-585040"/>
            <a:ext cx="3552841" cy="4070080"/>
          </a:xfrm>
          <a:custGeom>
            <a:avLst/>
            <a:gdLst/>
            <a:ahLst/>
            <a:cxnLst/>
            <a:rect r="r" b="b" t="t" l="l"/>
            <a:pathLst>
              <a:path h="4070080" w="3552841">
                <a:moveTo>
                  <a:pt x="3552841" y="0"/>
                </a:moveTo>
                <a:lnTo>
                  <a:pt x="0" y="0"/>
                </a:lnTo>
                <a:lnTo>
                  <a:pt x="0" y="4070080"/>
                </a:lnTo>
                <a:lnTo>
                  <a:pt x="3552841" y="4070080"/>
                </a:lnTo>
                <a:lnTo>
                  <a:pt x="3552841"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false" flipV="false" rot="0">
            <a:off x="11267920" y="3709002"/>
            <a:ext cx="2875031" cy="686414"/>
          </a:xfrm>
          <a:custGeom>
            <a:avLst/>
            <a:gdLst/>
            <a:ahLst/>
            <a:cxnLst/>
            <a:rect r="r" b="b" t="t" l="l"/>
            <a:pathLst>
              <a:path h="686414" w="2875031">
                <a:moveTo>
                  <a:pt x="0" y="0"/>
                </a:moveTo>
                <a:lnTo>
                  <a:pt x="2875030" y="0"/>
                </a:lnTo>
                <a:lnTo>
                  <a:pt x="2875030" y="686414"/>
                </a:lnTo>
                <a:lnTo>
                  <a:pt x="0" y="68641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7EED3"/>
        </a:solidFill>
      </p:bgPr>
    </p:bg>
    <p:spTree>
      <p:nvGrpSpPr>
        <p:cNvPr id="1" name=""/>
        <p:cNvGrpSpPr/>
        <p:nvPr/>
      </p:nvGrpSpPr>
      <p:grpSpPr>
        <a:xfrm>
          <a:off x="0" y="0"/>
          <a:ext cx="0" cy="0"/>
          <a:chOff x="0" y="0"/>
          <a:chExt cx="0" cy="0"/>
        </a:xfrm>
      </p:grpSpPr>
      <p:sp>
        <p:nvSpPr>
          <p:cNvPr name="TextBox 2" id="2"/>
          <p:cNvSpPr txBox="true"/>
          <p:nvPr/>
        </p:nvSpPr>
        <p:spPr>
          <a:xfrm rot="0">
            <a:off x="4726724" y="1911209"/>
            <a:ext cx="8834552" cy="1114426"/>
          </a:xfrm>
          <a:prstGeom prst="rect">
            <a:avLst/>
          </a:prstGeom>
        </p:spPr>
        <p:txBody>
          <a:bodyPr anchor="t" rtlCol="false" tIns="0" lIns="0" bIns="0" rIns="0">
            <a:spAutoFit/>
          </a:bodyPr>
          <a:lstStyle/>
          <a:p>
            <a:pPr algn="ctr">
              <a:lnSpc>
                <a:spcPts val="8625"/>
              </a:lnSpc>
            </a:pPr>
            <a:r>
              <a:rPr lang="en-US" b="true" sz="7500">
                <a:solidFill>
                  <a:srgbClr val="A47764"/>
                </a:solidFill>
                <a:latin typeface="Signika Bold"/>
                <a:ea typeface="Signika Bold"/>
                <a:cs typeface="Signika Bold"/>
                <a:sym typeface="Signika Bold"/>
              </a:rPr>
              <a:t>CONCLUSION</a:t>
            </a:r>
          </a:p>
        </p:txBody>
      </p:sp>
      <p:sp>
        <p:nvSpPr>
          <p:cNvPr name="Freeform 3" id="3"/>
          <p:cNvSpPr/>
          <p:nvPr/>
        </p:nvSpPr>
        <p:spPr>
          <a:xfrm flipH="false" flipV="false" rot="0">
            <a:off x="566580" y="5765030"/>
            <a:ext cx="3337150" cy="796745"/>
          </a:xfrm>
          <a:custGeom>
            <a:avLst/>
            <a:gdLst/>
            <a:ahLst/>
            <a:cxnLst/>
            <a:rect r="r" b="b" t="t" l="l"/>
            <a:pathLst>
              <a:path h="796745" w="3337150">
                <a:moveTo>
                  <a:pt x="0" y="0"/>
                </a:moveTo>
                <a:lnTo>
                  <a:pt x="3337151" y="0"/>
                </a:lnTo>
                <a:lnTo>
                  <a:pt x="3337151" y="796745"/>
                </a:lnTo>
                <a:lnTo>
                  <a:pt x="0" y="7967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350406" y="5709865"/>
            <a:ext cx="3337150" cy="796745"/>
          </a:xfrm>
          <a:custGeom>
            <a:avLst/>
            <a:gdLst/>
            <a:ahLst/>
            <a:cxnLst/>
            <a:rect r="r" b="b" t="t" l="l"/>
            <a:pathLst>
              <a:path h="796745" w="3337150">
                <a:moveTo>
                  <a:pt x="0" y="0"/>
                </a:moveTo>
                <a:lnTo>
                  <a:pt x="3337150" y="0"/>
                </a:lnTo>
                <a:lnTo>
                  <a:pt x="3337150" y="796744"/>
                </a:lnTo>
                <a:lnTo>
                  <a:pt x="0" y="7967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0">
            <a:off x="3044462" y="3508418"/>
            <a:ext cx="12199075" cy="5199638"/>
            <a:chOff x="0" y="0"/>
            <a:chExt cx="3212925" cy="1369452"/>
          </a:xfrm>
        </p:grpSpPr>
        <p:sp>
          <p:nvSpPr>
            <p:cNvPr name="Freeform 6" id="6"/>
            <p:cNvSpPr/>
            <p:nvPr/>
          </p:nvSpPr>
          <p:spPr>
            <a:xfrm flipH="false" flipV="false" rot="0">
              <a:off x="0" y="0"/>
              <a:ext cx="3212925" cy="1369452"/>
            </a:xfrm>
            <a:custGeom>
              <a:avLst/>
              <a:gdLst/>
              <a:ahLst/>
              <a:cxnLst/>
              <a:rect r="r" b="b" t="t" l="l"/>
              <a:pathLst>
                <a:path h="1369452" w="3212925">
                  <a:moveTo>
                    <a:pt x="38078" y="0"/>
                  </a:moveTo>
                  <a:lnTo>
                    <a:pt x="3174847" y="0"/>
                  </a:lnTo>
                  <a:cubicBezTo>
                    <a:pt x="3195877" y="0"/>
                    <a:pt x="3212925" y="17048"/>
                    <a:pt x="3212925" y="38078"/>
                  </a:cubicBezTo>
                  <a:lnTo>
                    <a:pt x="3212925" y="1331374"/>
                  </a:lnTo>
                  <a:cubicBezTo>
                    <a:pt x="3212925" y="1341473"/>
                    <a:pt x="3208913" y="1351158"/>
                    <a:pt x="3201772" y="1358299"/>
                  </a:cubicBezTo>
                  <a:cubicBezTo>
                    <a:pt x="3194632" y="1365440"/>
                    <a:pt x="3184946" y="1369452"/>
                    <a:pt x="3174847" y="1369452"/>
                  </a:cubicBezTo>
                  <a:lnTo>
                    <a:pt x="38078" y="1369452"/>
                  </a:lnTo>
                  <a:cubicBezTo>
                    <a:pt x="27979" y="1369452"/>
                    <a:pt x="18294" y="1365440"/>
                    <a:pt x="11153" y="1358299"/>
                  </a:cubicBezTo>
                  <a:cubicBezTo>
                    <a:pt x="4012" y="1351158"/>
                    <a:pt x="0" y="1341473"/>
                    <a:pt x="0" y="1331374"/>
                  </a:cubicBezTo>
                  <a:lnTo>
                    <a:pt x="0" y="38078"/>
                  </a:lnTo>
                  <a:cubicBezTo>
                    <a:pt x="0" y="27979"/>
                    <a:pt x="4012" y="18294"/>
                    <a:pt x="11153" y="11153"/>
                  </a:cubicBezTo>
                  <a:cubicBezTo>
                    <a:pt x="18294" y="4012"/>
                    <a:pt x="27979" y="0"/>
                    <a:pt x="38078" y="0"/>
                  </a:cubicBezTo>
                  <a:close/>
                </a:path>
              </a:pathLst>
            </a:custGeom>
            <a:solidFill>
              <a:srgbClr val="A47764"/>
            </a:solidFill>
          </p:spPr>
        </p:sp>
        <p:sp>
          <p:nvSpPr>
            <p:cNvPr name="TextBox 7" id="7"/>
            <p:cNvSpPr txBox="true"/>
            <p:nvPr/>
          </p:nvSpPr>
          <p:spPr>
            <a:xfrm>
              <a:off x="0" y="-38100"/>
              <a:ext cx="3212925" cy="1407552"/>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3937594" y="3928203"/>
            <a:ext cx="10412812" cy="4394199"/>
          </a:xfrm>
          <a:prstGeom prst="rect">
            <a:avLst/>
          </a:prstGeom>
        </p:spPr>
        <p:txBody>
          <a:bodyPr anchor="t" rtlCol="false" tIns="0" lIns="0" bIns="0" rIns="0">
            <a:spAutoFit/>
          </a:bodyPr>
          <a:lstStyle/>
          <a:p>
            <a:pPr algn="just">
              <a:lnSpc>
                <a:spcPts val="3500"/>
              </a:lnSpc>
            </a:pPr>
            <a:r>
              <a:rPr lang="en-US" sz="2500" b="true">
                <a:solidFill>
                  <a:srgbClr val="FFFFFF"/>
                </a:solidFill>
                <a:latin typeface="Poppins Medium"/>
                <a:ea typeface="Poppins Medium"/>
                <a:cs typeface="Poppins Medium"/>
                <a:sym typeface="Poppins Medium"/>
              </a:rPr>
              <a:t>AIPetは単なる管理アプリではなく、飼い主とペットの日常全体をサポートするオールインワン・ケアプラットフォームとして成長を続けています。市場の拡大と顧客ニーズに応え、散歩・健康・予約管理に加え、感情的なつながりやデータに基づくケアも幅広く支援します。</a:t>
            </a:r>
          </a:p>
          <a:p>
            <a:pPr algn="just">
              <a:lnSpc>
                <a:spcPts val="3500"/>
              </a:lnSpc>
            </a:pPr>
          </a:p>
          <a:p>
            <a:pPr algn="just">
              <a:lnSpc>
                <a:spcPts val="3500"/>
              </a:lnSpc>
            </a:pPr>
            <a:r>
              <a:rPr lang="en-US" sz="2500" b="true">
                <a:solidFill>
                  <a:srgbClr val="FFFFFF"/>
                </a:solidFill>
                <a:latin typeface="Poppins Medium"/>
                <a:ea typeface="Poppins Medium"/>
                <a:cs typeface="Poppins Medium"/>
                <a:sym typeface="Poppins Medium"/>
              </a:rPr>
              <a:t>今後もAIPetは信頼と絆を基盤としたサービスを進化させ、パートナーと飼い主が共に成長できるエコシステムを構築していきます。技術と感性を融合させた新しいペットライフ体験を提供することが、私たちの最終的な目標です。</a:t>
            </a:r>
          </a:p>
          <a:p>
            <a:pPr algn="just">
              <a:lnSpc>
                <a:spcPts val="3500"/>
              </a:lnSpc>
              <a:spcBef>
                <a:spcPct val="0"/>
              </a:spcBef>
            </a:pPr>
          </a:p>
        </p:txBody>
      </p:sp>
      <p:sp>
        <p:nvSpPr>
          <p:cNvPr name="Freeform 9" id="9"/>
          <p:cNvSpPr/>
          <p:nvPr/>
        </p:nvSpPr>
        <p:spPr>
          <a:xfrm flipH="false" flipV="true" rot="0">
            <a:off x="14350406" y="-232416"/>
            <a:ext cx="4239133" cy="2686551"/>
          </a:xfrm>
          <a:custGeom>
            <a:avLst/>
            <a:gdLst/>
            <a:ahLst/>
            <a:cxnLst/>
            <a:rect r="r" b="b" t="t" l="l"/>
            <a:pathLst>
              <a:path h="2686551" w="4239133">
                <a:moveTo>
                  <a:pt x="0" y="2686551"/>
                </a:moveTo>
                <a:lnTo>
                  <a:pt x="4239133" y="2686551"/>
                </a:lnTo>
                <a:lnTo>
                  <a:pt x="4239133" y="0"/>
                </a:lnTo>
                <a:lnTo>
                  <a:pt x="0" y="0"/>
                </a:lnTo>
                <a:lnTo>
                  <a:pt x="0" y="2686551"/>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true" flipV="true" rot="0">
            <a:off x="-682306" y="-232416"/>
            <a:ext cx="4239133" cy="2686551"/>
          </a:xfrm>
          <a:custGeom>
            <a:avLst/>
            <a:gdLst/>
            <a:ahLst/>
            <a:cxnLst/>
            <a:rect r="r" b="b" t="t" l="l"/>
            <a:pathLst>
              <a:path h="2686551" w="4239133">
                <a:moveTo>
                  <a:pt x="4239134" y="2686551"/>
                </a:moveTo>
                <a:lnTo>
                  <a:pt x="0" y="2686551"/>
                </a:lnTo>
                <a:lnTo>
                  <a:pt x="0" y="0"/>
                </a:lnTo>
                <a:lnTo>
                  <a:pt x="4239134" y="0"/>
                </a:lnTo>
                <a:lnTo>
                  <a:pt x="4239134" y="2686551"/>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7EED3"/>
        </a:solidFill>
      </p:bgPr>
    </p:bg>
    <p:spTree>
      <p:nvGrpSpPr>
        <p:cNvPr id="1" name=""/>
        <p:cNvGrpSpPr/>
        <p:nvPr/>
      </p:nvGrpSpPr>
      <p:grpSpPr>
        <a:xfrm>
          <a:off x="0" y="0"/>
          <a:ext cx="0" cy="0"/>
          <a:chOff x="0" y="0"/>
          <a:chExt cx="0" cy="0"/>
        </a:xfrm>
      </p:grpSpPr>
      <p:sp>
        <p:nvSpPr>
          <p:cNvPr name="TextBox 2" id="2"/>
          <p:cNvSpPr txBox="true"/>
          <p:nvPr/>
        </p:nvSpPr>
        <p:spPr>
          <a:xfrm rot="0">
            <a:off x="3296945" y="3573273"/>
            <a:ext cx="11694111" cy="2368707"/>
          </a:xfrm>
          <a:prstGeom prst="rect">
            <a:avLst/>
          </a:prstGeom>
        </p:spPr>
        <p:txBody>
          <a:bodyPr anchor="t" rtlCol="false" tIns="0" lIns="0" bIns="0" rIns="0">
            <a:spAutoFit/>
          </a:bodyPr>
          <a:lstStyle/>
          <a:p>
            <a:pPr algn="ctr">
              <a:lnSpc>
                <a:spcPts val="18428"/>
              </a:lnSpc>
            </a:pPr>
            <a:r>
              <a:rPr lang="en-US" b="true" sz="16024">
                <a:solidFill>
                  <a:srgbClr val="C84C11"/>
                </a:solidFill>
                <a:latin typeface="Signika Bold"/>
                <a:ea typeface="Signika Bold"/>
                <a:cs typeface="Signika Bold"/>
                <a:sym typeface="Signika Bold"/>
              </a:rPr>
              <a:t>THANK YOU</a:t>
            </a:r>
          </a:p>
        </p:txBody>
      </p:sp>
      <p:sp>
        <p:nvSpPr>
          <p:cNvPr name="TextBox 3" id="3"/>
          <p:cNvSpPr txBox="true"/>
          <p:nvPr/>
        </p:nvSpPr>
        <p:spPr>
          <a:xfrm rot="0">
            <a:off x="5051935" y="6104264"/>
            <a:ext cx="8184129" cy="717550"/>
          </a:xfrm>
          <a:prstGeom prst="rect">
            <a:avLst/>
          </a:prstGeom>
        </p:spPr>
        <p:txBody>
          <a:bodyPr anchor="t" rtlCol="false" tIns="0" lIns="0" bIns="0" rIns="0">
            <a:spAutoFit/>
          </a:bodyPr>
          <a:lstStyle/>
          <a:p>
            <a:pPr algn="ctr">
              <a:lnSpc>
                <a:spcPts val="5599"/>
              </a:lnSpc>
              <a:spcBef>
                <a:spcPct val="0"/>
              </a:spcBef>
            </a:pPr>
            <a:r>
              <a:rPr lang="en-US" sz="3999">
                <a:solidFill>
                  <a:srgbClr val="000000"/>
                </a:solidFill>
                <a:latin typeface="Poppins"/>
                <a:ea typeface="Poppins"/>
                <a:cs typeface="Poppins"/>
                <a:sym typeface="Poppins"/>
              </a:rPr>
              <a:t>For Your Attention!</a:t>
            </a:r>
          </a:p>
        </p:txBody>
      </p:sp>
      <p:sp>
        <p:nvSpPr>
          <p:cNvPr name="Freeform 4" id="4"/>
          <p:cNvSpPr/>
          <p:nvPr/>
        </p:nvSpPr>
        <p:spPr>
          <a:xfrm flipH="false" flipV="true" rot="5400000">
            <a:off x="14536800" y="5400491"/>
            <a:ext cx="4977231" cy="3154320"/>
          </a:xfrm>
          <a:custGeom>
            <a:avLst/>
            <a:gdLst/>
            <a:ahLst/>
            <a:cxnLst/>
            <a:rect r="r" b="b" t="t" l="l"/>
            <a:pathLst>
              <a:path h="3154320" w="4977231">
                <a:moveTo>
                  <a:pt x="0" y="3154320"/>
                </a:moveTo>
                <a:lnTo>
                  <a:pt x="4977231" y="3154320"/>
                </a:lnTo>
                <a:lnTo>
                  <a:pt x="4977231" y="0"/>
                </a:lnTo>
                <a:lnTo>
                  <a:pt x="0" y="0"/>
                </a:lnTo>
                <a:lnTo>
                  <a:pt x="0" y="315432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0">
            <a:off x="-378744" y="8829796"/>
            <a:ext cx="19765101" cy="1839198"/>
            <a:chOff x="0" y="0"/>
            <a:chExt cx="5205623" cy="484398"/>
          </a:xfrm>
        </p:grpSpPr>
        <p:sp>
          <p:nvSpPr>
            <p:cNvPr name="Freeform 6" id="6"/>
            <p:cNvSpPr/>
            <p:nvPr/>
          </p:nvSpPr>
          <p:spPr>
            <a:xfrm flipH="false" flipV="false" rot="0">
              <a:off x="0" y="0"/>
              <a:ext cx="5205623" cy="484398"/>
            </a:xfrm>
            <a:custGeom>
              <a:avLst/>
              <a:gdLst/>
              <a:ahLst/>
              <a:cxnLst/>
              <a:rect r="r" b="b" t="t" l="l"/>
              <a:pathLst>
                <a:path h="484398" w="5205623">
                  <a:moveTo>
                    <a:pt x="19977" y="0"/>
                  </a:moveTo>
                  <a:lnTo>
                    <a:pt x="5185647" y="0"/>
                  </a:lnTo>
                  <a:cubicBezTo>
                    <a:pt x="5196680" y="0"/>
                    <a:pt x="5205623" y="8944"/>
                    <a:pt x="5205623" y="19977"/>
                  </a:cubicBezTo>
                  <a:lnTo>
                    <a:pt x="5205623" y="464421"/>
                  </a:lnTo>
                  <a:cubicBezTo>
                    <a:pt x="5205623" y="469719"/>
                    <a:pt x="5203519" y="474800"/>
                    <a:pt x="5199773" y="478547"/>
                  </a:cubicBezTo>
                  <a:cubicBezTo>
                    <a:pt x="5196026" y="482293"/>
                    <a:pt x="5190945" y="484398"/>
                    <a:pt x="5185647" y="484398"/>
                  </a:cubicBezTo>
                  <a:lnTo>
                    <a:pt x="19977" y="484398"/>
                  </a:lnTo>
                  <a:cubicBezTo>
                    <a:pt x="14678" y="484398"/>
                    <a:pt x="9597" y="482293"/>
                    <a:pt x="5851" y="478547"/>
                  </a:cubicBezTo>
                  <a:cubicBezTo>
                    <a:pt x="2105" y="474800"/>
                    <a:pt x="0" y="469719"/>
                    <a:pt x="0" y="464421"/>
                  </a:cubicBezTo>
                  <a:lnTo>
                    <a:pt x="0" y="19977"/>
                  </a:lnTo>
                  <a:cubicBezTo>
                    <a:pt x="0" y="14678"/>
                    <a:pt x="2105" y="9597"/>
                    <a:pt x="5851" y="5851"/>
                  </a:cubicBezTo>
                  <a:cubicBezTo>
                    <a:pt x="9597" y="2105"/>
                    <a:pt x="14678" y="0"/>
                    <a:pt x="19977" y="0"/>
                  </a:cubicBezTo>
                  <a:close/>
                </a:path>
              </a:pathLst>
            </a:custGeom>
            <a:solidFill>
              <a:srgbClr val="A47764"/>
            </a:solidFill>
          </p:spPr>
        </p:sp>
        <p:sp>
          <p:nvSpPr>
            <p:cNvPr name="TextBox 7" id="7"/>
            <p:cNvSpPr txBox="true"/>
            <p:nvPr/>
          </p:nvSpPr>
          <p:spPr>
            <a:xfrm>
              <a:off x="0" y="-38100"/>
              <a:ext cx="5205623" cy="522498"/>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520524" y="6821814"/>
            <a:ext cx="3077519" cy="734758"/>
          </a:xfrm>
          <a:custGeom>
            <a:avLst/>
            <a:gdLst/>
            <a:ahLst/>
            <a:cxnLst/>
            <a:rect r="r" b="b" t="t" l="l"/>
            <a:pathLst>
              <a:path h="734758" w="3077519">
                <a:moveTo>
                  <a:pt x="0" y="0"/>
                </a:moveTo>
                <a:lnTo>
                  <a:pt x="3077519" y="0"/>
                </a:lnTo>
                <a:lnTo>
                  <a:pt x="3077519" y="734758"/>
                </a:lnTo>
                <a:lnTo>
                  <a:pt x="0" y="73475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255896" y="-202192"/>
            <a:ext cx="3552841" cy="4070080"/>
          </a:xfrm>
          <a:custGeom>
            <a:avLst/>
            <a:gdLst/>
            <a:ahLst/>
            <a:cxnLst/>
            <a:rect r="r" b="b" t="t" l="l"/>
            <a:pathLst>
              <a:path h="4070080" w="3552841">
                <a:moveTo>
                  <a:pt x="0" y="0"/>
                </a:moveTo>
                <a:lnTo>
                  <a:pt x="3552841" y="0"/>
                </a:lnTo>
                <a:lnTo>
                  <a:pt x="3552841" y="4070080"/>
                </a:lnTo>
                <a:lnTo>
                  <a:pt x="0" y="407008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12820539" y="1254024"/>
            <a:ext cx="3077519" cy="734758"/>
          </a:xfrm>
          <a:custGeom>
            <a:avLst/>
            <a:gdLst/>
            <a:ahLst/>
            <a:cxnLst/>
            <a:rect r="r" b="b" t="t" l="l"/>
            <a:pathLst>
              <a:path h="734758" w="3077519">
                <a:moveTo>
                  <a:pt x="0" y="0"/>
                </a:moveTo>
                <a:lnTo>
                  <a:pt x="3077519" y="0"/>
                </a:lnTo>
                <a:lnTo>
                  <a:pt x="3077519" y="734758"/>
                </a:lnTo>
                <a:lnTo>
                  <a:pt x="0" y="73475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DAG0tV9FSro</dc:identifier>
  <dcterms:modified xsi:type="dcterms:W3CDTF">2011-08-01T06:04:30Z</dcterms:modified>
  <cp:revision>1</cp:revision>
  <dc:title>ITSolutionZ</dc:title>
</cp:coreProperties>
</file>